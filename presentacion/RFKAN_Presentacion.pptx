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KAN</c:v>
                </c:pt>
              </c:strCache>
            </c:strRef>
          </c:tx>
          <c:spPr>
            <a:ln w="31750">
              <a:solidFill>
                <a:srgbClr val="8A94A6"/>
              </a:solidFill>
            </a:ln>
          </c:spPr>
          <c:marker>
            <c:spPr>
              <a:solidFill>
                <a:srgbClr val="8A94A6"/>
              </a:solidFill>
            </c:spPr>
          </c:marker>
          <c:cat>
            <c:strRef>
              <c:f>Sheet1!$A$2:$A$7</c:f>
              <c:strCache>
                <c:ptCount val="6"/>
                <c:pt idx="0">
                  <c:v>L=2</c:v>
                </c:pt>
                <c:pt idx="1">
                  <c:v>L=12</c:v>
                </c:pt>
                <c:pt idx="2">
                  <c:v>L=24</c:v>
                </c:pt>
                <c:pt idx="3">
                  <c:v>L=72</c:v>
                </c:pt>
                <c:pt idx="4">
                  <c:v>L=168</c:v>
                </c:pt>
                <c:pt idx="5">
                  <c:v>L=336</c:v>
                </c:pt>
              </c:strCache>
            </c:strRef>
          </c:cat>
          <c:val>
            <c:numRef>
              <c:f>Sheet1!$B$2:$B$7</c:f>
              <c:numCache>
                <c:formatCode>General</c:formatCode>
                <c:ptCount val="6"/>
                <c:pt idx="0">
                  <c:v>0.1109</c:v>
                </c:pt>
                <c:pt idx="1">
                  <c:v>0.1104</c:v>
                </c:pt>
                <c:pt idx="2">
                  <c:v>0.1134</c:v>
                </c:pt>
                <c:pt idx="3">
                  <c:v>0.1206</c:v>
                </c:pt>
                <c:pt idx="4">
                  <c:v>0.1263</c:v>
                </c:pt>
                <c:pt idx="5">
                  <c:v>0.1282</c:v>
                </c:pt>
              </c:numCache>
            </c:numRef>
          </c:val>
          <c:smooth val="0"/>
        </c:ser>
        <c:ser>
          <c:idx val="1"/>
          <c:order val="1"/>
          <c:tx>
            <c:strRef>
              <c:f>Sheet1!$C$1</c:f>
              <c:strCache>
                <c:ptCount val="1"/>
                <c:pt idx="0">
                  <c:v>RKAN</c:v>
                </c:pt>
              </c:strCache>
            </c:strRef>
          </c:tx>
          <c:spPr>
            <a:ln w="31750">
              <a:solidFill>
                <a:srgbClr val="1B7F8C"/>
              </a:solidFill>
            </a:ln>
          </c:spPr>
          <c:marker>
            <c:spPr>
              <a:solidFill>
                <a:srgbClr val="1B7F8C"/>
              </a:solidFill>
            </c:spPr>
          </c:marker>
          <c:cat>
            <c:strRef>
              <c:f>Sheet1!$A$2:$A$7</c:f>
              <c:strCache>
                <c:ptCount val="6"/>
                <c:pt idx="0">
                  <c:v>L=2</c:v>
                </c:pt>
                <c:pt idx="1">
                  <c:v>L=12</c:v>
                </c:pt>
                <c:pt idx="2">
                  <c:v>L=24</c:v>
                </c:pt>
                <c:pt idx="3">
                  <c:v>L=72</c:v>
                </c:pt>
                <c:pt idx="4">
                  <c:v>L=168</c:v>
                </c:pt>
                <c:pt idx="5">
                  <c:v>L=336</c:v>
                </c:pt>
              </c:strCache>
            </c:strRef>
          </c:cat>
          <c:val>
            <c:numRef>
              <c:f>Sheet1!$C$2:$C$7</c:f>
              <c:numCache>
                <c:formatCode>General</c:formatCode>
                <c:ptCount val="6"/>
                <c:pt idx="0">
                  <c:v>0.106</c:v>
                </c:pt>
                <c:pt idx="1">
                  <c:v>0.1065</c:v>
                </c:pt>
                <c:pt idx="2">
                  <c:v>0.1059</c:v>
                </c:pt>
                <c:pt idx="3">
                  <c:v>0.1048</c:v>
                </c:pt>
                <c:pt idx="4">
                  <c:v>0.1052</c:v>
                </c:pt>
                <c:pt idx="5">
                  <c:v>0.1053</c:v>
                </c:pt>
              </c:numCache>
            </c:numRef>
          </c:val>
          <c:smooth val="0"/>
        </c:ser>
        <c:ser>
          <c:idx val="2"/>
          <c:order val="2"/>
          <c:tx>
            <c:strRef>
              <c:f>Sheet1!$D$1</c:f>
              <c:strCache>
                <c:ptCount val="1"/>
                <c:pt idx="0">
                  <c:v>FKAN</c:v>
                </c:pt>
              </c:strCache>
            </c:strRef>
          </c:tx>
          <c:spPr>
            <a:ln w="31750">
              <a:solidFill>
                <a:srgbClr val="E8B07A"/>
              </a:solidFill>
            </a:ln>
          </c:spPr>
          <c:marker>
            <c:spPr>
              <a:solidFill>
                <a:srgbClr val="E8B07A"/>
              </a:solidFill>
            </c:spPr>
          </c:marker>
          <c:cat>
            <c:strRef>
              <c:f>Sheet1!$A$2:$A$7</c:f>
              <c:strCache>
                <c:ptCount val="6"/>
                <c:pt idx="0">
                  <c:v>L=2</c:v>
                </c:pt>
                <c:pt idx="1">
                  <c:v>L=12</c:v>
                </c:pt>
                <c:pt idx="2">
                  <c:v>L=24</c:v>
                </c:pt>
                <c:pt idx="3">
                  <c:v>L=72</c:v>
                </c:pt>
                <c:pt idx="4">
                  <c:v>L=168</c:v>
                </c:pt>
                <c:pt idx="5">
                  <c:v>L=336</c:v>
                </c:pt>
              </c:strCache>
            </c:strRef>
          </c:cat>
          <c:val>
            <c:numRef>
              <c:f>Sheet1!$D$2:$D$7</c:f>
              <c:numCache>
                <c:formatCode>General</c:formatCode>
                <c:ptCount val="6"/>
                <c:pt idx="0">
                  <c:v>0.1115</c:v>
                </c:pt>
                <c:pt idx="1">
                  <c:v>0.1207</c:v>
                </c:pt>
                <c:pt idx="2">
                  <c:v>0.1271</c:v>
                </c:pt>
                <c:pt idx="3">
                  <c:v>0.135</c:v>
                </c:pt>
                <c:pt idx="4">
                  <c:v>0.138</c:v>
                </c:pt>
                <c:pt idx="5">
                  <c:v>0.138</c:v>
                </c:pt>
              </c:numCache>
            </c:numRef>
          </c:val>
          <c:smooth val="0"/>
        </c:ser>
        <c:ser>
          <c:idx val="3"/>
          <c:order val="3"/>
          <c:tx>
            <c:strRef>
              <c:f>Sheet1!$E$1</c:f>
              <c:strCache>
                <c:ptCount val="1"/>
                <c:pt idx="0">
                  <c:v>RFKAN</c:v>
                </c:pt>
              </c:strCache>
            </c:strRef>
          </c:tx>
          <c:spPr>
            <a:ln w="31750">
              <a:solidFill>
                <a:srgbClr val="D96A1F"/>
              </a:solidFill>
            </a:ln>
          </c:spPr>
          <c:marker>
            <c:spPr>
              <a:solidFill>
                <a:srgbClr val="D96A1F"/>
              </a:solidFill>
            </c:spPr>
          </c:marker>
          <c:cat>
            <c:strRef>
              <c:f>Sheet1!$A$2:$A$7</c:f>
              <c:strCache>
                <c:ptCount val="6"/>
                <c:pt idx="0">
                  <c:v>L=2</c:v>
                </c:pt>
                <c:pt idx="1">
                  <c:v>L=12</c:v>
                </c:pt>
                <c:pt idx="2">
                  <c:v>L=24</c:v>
                </c:pt>
                <c:pt idx="3">
                  <c:v>L=72</c:v>
                </c:pt>
                <c:pt idx="4">
                  <c:v>L=168</c:v>
                </c:pt>
                <c:pt idx="5">
                  <c:v>L=336</c:v>
                </c:pt>
              </c:strCache>
            </c:strRef>
          </c:cat>
          <c:val>
            <c:numRef>
              <c:f>Sheet1!$E$2:$E$7</c:f>
              <c:numCache>
                <c:formatCode>General</c:formatCode>
                <c:ptCount val="6"/>
                <c:pt idx="0">
                  <c:v>0.1091</c:v>
                </c:pt>
                <c:pt idx="1">
                  <c:v>0.1106</c:v>
                </c:pt>
                <c:pt idx="2">
                  <c:v>0.1093</c:v>
                </c:pt>
                <c:pt idx="3">
                  <c:v>0.1076</c:v>
                </c:pt>
                <c:pt idx="4">
                  <c:v>0.1076</c:v>
                </c:pt>
                <c:pt idx="5">
                  <c:v>0.1083</c:v>
                </c:pt>
              </c:numCache>
            </c:numRef>
          </c:val>
          <c:smooth val="0"/>
        </c:ser>
        <c:ser>
          <c:idx val="4"/>
          <c:order val="4"/>
          <c:tx>
            <c:strRef>
              <c:f>Sheet1!$F$1</c:f>
              <c:strCache>
                <c:ptCount val="1"/>
                <c:pt idx="0">
                  <c:v>LSTM</c:v>
                </c:pt>
              </c:strCache>
            </c:strRef>
          </c:tx>
          <c:spPr>
            <a:ln w="19050">
              <a:solidFill>
                <a:srgbClr val="333333"/>
              </a:solidFill>
              <a:prstDash val="dash"/>
            </a:ln>
          </c:spPr>
          <c:marker>
            <c:spPr>
              <a:solidFill>
                <a:srgbClr val="333333"/>
              </a:solidFill>
            </c:spPr>
          </c:marker>
          <c:cat>
            <c:strRef>
              <c:f>Sheet1!$A$2:$A$7</c:f>
              <c:strCache>
                <c:ptCount val="6"/>
                <c:pt idx="0">
                  <c:v>L=2</c:v>
                </c:pt>
                <c:pt idx="1">
                  <c:v>L=12</c:v>
                </c:pt>
                <c:pt idx="2">
                  <c:v>L=24</c:v>
                </c:pt>
                <c:pt idx="3">
                  <c:v>L=72</c:v>
                </c:pt>
                <c:pt idx="4">
                  <c:v>L=168</c:v>
                </c:pt>
                <c:pt idx="5">
                  <c:v>L=336</c:v>
                </c:pt>
              </c:strCache>
            </c:strRef>
          </c:cat>
          <c:val>
            <c:numRef>
              <c:f>Sheet1!$F$2:$F$7</c:f>
              <c:numCache>
                <c:formatCode>General</c:formatCode>
                <c:ptCount val="6"/>
                <c:pt idx="0">
                  <c:v>0.1062</c:v>
                </c:pt>
                <c:pt idx="1">
                  <c:v>0.1034</c:v>
                </c:pt>
                <c:pt idx="2">
                  <c:v>0.1016</c:v>
                </c:pt>
                <c:pt idx="3">
                  <c:v>0.1021</c:v>
                </c:pt>
                <c:pt idx="4">
                  <c:v>0.1379</c:v>
                </c:pt>
              </c:numCache>
            </c:numRef>
          </c:val>
          <c:smooth val="0"/>
        </c:ser>
        <c:ser>
          <c:idx val="5"/>
          <c:order val="5"/>
          <c:tx>
            <c:strRef>
              <c:f>Sheet1!$G$1</c:f>
              <c:strCache>
                <c:ptCount val="1"/>
                <c:pt idx="0">
                  <c:v>GRU</c:v>
                </c:pt>
              </c:strCache>
            </c:strRef>
          </c:tx>
          <c:spPr>
            <a:ln w="19050">
              <a:solidFill>
                <a:srgbClr val="666666"/>
              </a:solidFill>
              <a:prstDash val="dash"/>
            </a:ln>
          </c:spPr>
          <c:marker>
            <c:spPr>
              <a:solidFill>
                <a:srgbClr val="666666"/>
              </a:solidFill>
            </c:spPr>
          </c:marker>
          <c:cat>
            <c:strRef>
              <c:f>Sheet1!$A$2:$A$7</c:f>
              <c:strCache>
                <c:ptCount val="6"/>
                <c:pt idx="0">
                  <c:v>L=2</c:v>
                </c:pt>
                <c:pt idx="1">
                  <c:v>L=12</c:v>
                </c:pt>
                <c:pt idx="2">
                  <c:v>L=24</c:v>
                </c:pt>
                <c:pt idx="3">
                  <c:v>L=72</c:v>
                </c:pt>
                <c:pt idx="4">
                  <c:v>L=168</c:v>
                </c:pt>
                <c:pt idx="5">
                  <c:v>L=336</c:v>
                </c:pt>
              </c:strCache>
            </c:strRef>
          </c:cat>
          <c:val>
            <c:numRef>
              <c:f>Sheet1!$G$2:$G$7</c:f>
              <c:numCache>
                <c:formatCode>General</c:formatCode>
                <c:ptCount val="6"/>
                <c:pt idx="0">
                  <c:v>0.1055</c:v>
                </c:pt>
                <c:pt idx="1">
                  <c:v>0.1044</c:v>
                </c:pt>
                <c:pt idx="2">
                  <c:v>0.102</c:v>
                </c:pt>
                <c:pt idx="3">
                  <c:v>0.1028</c:v>
                </c:pt>
                <c:pt idx="4">
                  <c:v>0.1017</c:v>
                </c:pt>
              </c:numCache>
            </c:numRef>
          </c:val>
          <c:smooth val="0"/>
        </c:ser>
        <c:ser>
          <c:idx val="6"/>
          <c:order val="6"/>
          <c:tx>
            <c:strRef>
              <c:f>Sheet1!$H$1</c:f>
              <c:strCache>
                <c:ptCount val="1"/>
                <c:pt idx="0">
                  <c:v>TCN</c:v>
                </c:pt>
              </c:strCache>
            </c:strRef>
          </c:tx>
          <c:spPr>
            <a:ln w="19050">
              <a:solidFill>
                <a:srgbClr val="999999"/>
              </a:solidFill>
              <a:prstDash val="dash"/>
            </a:ln>
          </c:spPr>
          <c:marker>
            <c:spPr>
              <a:solidFill>
                <a:srgbClr val="999999"/>
              </a:solidFill>
            </c:spPr>
          </c:marker>
          <c:cat>
            <c:strRef>
              <c:f>Sheet1!$A$2:$A$7</c:f>
              <c:strCache>
                <c:ptCount val="6"/>
                <c:pt idx="0">
                  <c:v>L=2</c:v>
                </c:pt>
                <c:pt idx="1">
                  <c:v>L=12</c:v>
                </c:pt>
                <c:pt idx="2">
                  <c:v>L=24</c:v>
                </c:pt>
                <c:pt idx="3">
                  <c:v>L=72</c:v>
                </c:pt>
                <c:pt idx="4">
                  <c:v>L=168</c:v>
                </c:pt>
                <c:pt idx="5">
                  <c:v>L=336</c:v>
                </c:pt>
              </c:strCache>
            </c:strRef>
          </c:cat>
          <c:val>
            <c:numRef>
              <c:f>Sheet1!$H$2:$H$7</c:f>
              <c:numCache>
                <c:formatCode>General</c:formatCode>
                <c:ptCount val="6"/>
                <c:pt idx="0">
                  <c:v>0.1051</c:v>
                </c:pt>
                <c:pt idx="1">
                  <c:v>0.1064</c:v>
                </c:pt>
                <c:pt idx="2">
                  <c:v>0.1049</c:v>
                </c:pt>
                <c:pt idx="3">
                  <c:v>0.1051</c:v>
                </c:pt>
                <c:pt idx="4">
                  <c:v>0.1059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title>
          <c:tx>
            <c:rich>
              <a:bodyPr/>
              <a:lstStyle/>
              <a:p>
                <a:r>
                  <a:t>RMSE val (mm/h)</a:t>
                </a:r>
              </a:p>
            </c:rich>
          </c:tx>
          <c:layout/>
          <c:overlay val="0"/>
        </c:title>
        <c:majorTickMark val="out"/>
        <c:minorTickMark val="none"/>
        <c:tickLblPos val="nextTo"/>
        <c:crossAx val="2118791784"/>
        <c:crosses val="autoZero"/>
      </c:valAx>
    </c:plotArea>
    <c:legend>
      <c:legendPos/>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Hola. En este video presentamos nuestra implementación del paper Recurrent Fourier-Kolmogorov Arnold Networks, de Rong, Lin y Xie, publicado en Scientific Reports en 2025. El paper propone un modelo para pronosticar la potencia de una planta solar. Nosotros lo implementamos desde cero y lo adaptamos al problema del laboratorio: pronosticar el caudal de ríos. Vamos a ver la metodología, la implementación y los resultados.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Empecemos por el problema. Cada muestra del dataset es una ventana de 336 horas, es decir, 14 días, de una cuenca. En cada hora hay 12 variables: 11 meteorológicas, como la precipitación, la temperatura, la radiación o el viento, y el caudal. A partir de eso hay que predecir el caudal de las siguientes 48 horas, en milímetros por hora, que es el caudal dividido por el área de la cuenca. Hay 508 cuencas anónimas, y las mismas cuencas aparecen en train, validación y test. Una propiedad importante: el caudal cambia poco en 48 horas la mayor parte del tiempo. Repetir el último valor, lo que llamamos persistencia, ya es un buen modelo base. Lo difícil son los eventos de lluvia.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paper resuelve un problema parecido en otro dominio: pronosticar para el día siguiente la potencia de una planta fotovoltaica de 45 kilowatts en China, con datos cada 5 minutos durante un año. Su propuesta, RFKAN, parte de las redes de Kolmogorov-Arnold, o KAN, y les hace dos cambios. El primero son los nodos kernel recurrentes, una memoria tipo RNN para capturar la dependencia temporal. El segundo es reemplazar los splines de la KAN por series de Fourier, con el argumento de que la potencia solar es muy periódica y Fourier la representa con pocos parámetros, y además entrena más rápido. El entrenamiento usa refinamiento de grilla: empieza con una grilla gruesa y la va refinando en seis etapas, de 3 a 100.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una KAN? Se basa en el teorema de Kolmogorov-Arnold, que dice que cualquier función continua de muchas variables se puede escribir usando solo sumas y funciones de una variable. La fórmula tiene dos niveles: funciones internas phi, una por cada par de entrada y término, y funciones externas Phi. Una KAN convierte eso en una red de dos capas. La diferencia con un perceptrón multicapa es dónde está la no linealidad. En un MLP las aristas tienen pesos y la activación es fija en los nodos. En una KAN, cada arista tiene su propia función aprendible de una variable, y los nodos solo suman. En nuestro caso, con 12 canales de entrada, la red queda de 12 a 25 nodos y de 25 a 48 salidas, una por hora.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 aporte del paper son los nodos kernel recurrentes, ecuación 3. La memoria h en el tiempo t es una combinación lineal de la memoria en t menos 1 y de la entrada en t. Es una RNN sin función de activación. Esa memoria resume toda la historia anterior. La ecuación 4 dice que cada función de la capa recibe ahora dos cosas: el valor actual del nodo y su memoria. El paper no explica cómo una función de una variable recibe dos entradas. Nosotros lo implementamos como muestra la figura 1: los nodos recurrentes entran en paralelo con los nodos normales, así que la capa suma una función del valor y otra de la memoria.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segundo aporte es la ecuación 8. En lugar de un spline, cada función de arista es una serie de Fourier: una suma de cosenos y senos de frecuencias 1, 2, hasta g, con coeficientes aprendibles a y b. Aquí g es el tamaño de la grilla, que pasa a ser el número de armónicos. Refinar la grilla significa agregar armónicos: los coeficientes existentes se copian y los nuevos arrancan en cero, así que la función aprendida se hereda exactamente. Retengan el argumento del paper para usar Fourier: la periodicidad de la potencia solar. Vamos a volver a él en los resultados, porque el caudal no tiene ese ciclo.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ablación del paper, la tabla 3. Comparan cuatro modelos: KAN, la base; RKAN, con recurrencia y splines; FKAN, con Fourier y sin recurrencia; y RFKAN, con las dos cosas. Cada cambio mejora a KAN y juntos mejoran más: el RMSE baja un 37 por ciento. Reportan además grilla óptima 100, largo óptimo 2, y que RFKAN supera a todos los baselines. Encontramos algunas inconsistencias. La tabla de hiperparámetros dice largo de entrada 12, pero el texto dice que el óptimo es 2. La tabla 5 da los parámetros de un LSTM, pero la tabla 6 reporta un GRU, así que corrimos ambos. Y la métrica que llaman CORR es en realidad el coeficiente de determinación, R cuadrado.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Pasamos a la implementación. Esta tabla resume el cambio de dominio. El objetivo pasa de potencia a caudal, y de una planta a 508 cuencas. La salida del paper es un único nodo; nosotros necesitamos 48 horas, así que la capa 2 tiene 48 nodos de salida. El largo de entrada del paper es 2; como la tabla y el texto no coinciden, lo tratamos como hiperparámetro y barrimos de 2 a 336 horas, igual que la figura 5 del paper. El modelo principal usa 72 horas. La evaluación también cambia mucho: el paper evalúa un día por estación, unos 288 puntos; nosotros evaluamos casi 28 mil ventanas de 48 horas. La normalización es la del paper, min-max con estadísticos de entrenamiento.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arquitectura que implementamos. La entrada son L pasos con 12 canales. Se le agregan los nodos recurrentes, y juntos entran a la capa 1, una capa KAN de Fourier de 24 a 25 nodos que se aplica en cada paso de tiempo. Sobre esa salida se calculan otra vez los nodos recurrentes, y en el último paso los dos entran a la capa 2, de 50 a 48. La salida se suma al último caudal observado, algo que explicamos en el próximo slide. Todo está escrito desde cero, como pide la consigna: la capa Fourier, la capa con B-splines usando la recursión de Cox-de Boor y la extensión de grilla por mínimos cuadrados.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 problema serio fue que la versión literal divergía. Al refinar la grilla a 50 o 100 armónicos, el error de validación subía de 0.27 a 3.6 milímetros por hora. Lo diagnosticamos así: en escala normalizada, el cambio típico del caudal en 48 horas tiene un desvío de apenas 0.0046. Y Adam mueve cada parámetro nuevo del orden de la tasa de aprendizaje por paso, sin importar el tamaño del gradiente. Con cien armónicos por arista, eso es ruido enorme frente a 0.0046. Lo resolvimos con dos cambios. Primero, una salida residual: el modelo predice la corrección sobre el último caudal, escalada por ese desvío. Segundo, bajamos la tasa de aprendizaje en cada etapa, proporcional a 3 sobre g. La salida residual se aplica igual a todos los modelos neuronales, así que la comparación sigue siendo justa.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segundo problema lo descubrimos al ver que el LSTM daba exactamente el mismo error que persistencia, hasta el cuarto decimal. Medimos los gradientes: la pérdida en escala normalizada vale del orden de 2.5 por 10 a la menos 5, y el 99 por ciento de los gradientes del LSTM, el GRU y la TCN quedaban por debajo de 10 a la menos 8, que es el épsilon de Adam. Con eso, Adam prácticamente no mueve los pesos. La solución fue dividir la pérdida por sigma al cuadrado: el óptimo es el mismo, pero los gradientes quedan en una escala útil. Repetimos todos los experimentos con esta corrección. También vimos que el LSTM con 336 pasos no aprende en el presupuesto de 18 épocas, así que los modelos base neuronales usan la misma ventana de 72 horas que RFKAN.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son los experimentos. La suite seqlen es la ablación de la tabla 3 repetida para seis largos de ventana, lo que además reproduce la figura 5. La suite grid es la figura 4: comparamos el refinamiento estándar con una grilla que llega a 200, grillas fijas en 3 y en 100, y un refinamiento sin reducir la tasa de aprendizaje. La suite baselines tiene los modelos de la tabla 5, más persistencia, que es el modelo base natural en hidrología. Y la suite seeds repite RFKAN y el LSTM con tres semillas más, algo que el paper no hace. Todos con la misma partición, semilla y presupuesto de 18 épocas. Y la suite advanced entrena los tres modelos avanzados de la tabla 7, implementados por nosotros.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Pasamos a los resultados. Esta es nuestra versión de la tabla 3, con ventana de 72 horas, evaluada sobre las casi 28 mil ventanas de test. La fila de abajo es persistencia: 0.1188 de RMSE. RFKAN obtiene 0.1052, una mejora de 11 por ciento. Ahora, ¿qué componente aporta? Agregar recurrencia a la versión Fourier mejora el RMSE un 10 por ciento; agregarla a la versión con splines, un 6. Eso coincide con el paper. Pero cambiar splines por Fourier, de RKAN a RFKAN, empeora un 1.9 por ciento. El paper reporta una mejora del 22 por ciento. Lo que sí se reproduce es la velocidad: RFKAN entrena en 0.59 veces el tiempo de RKAN. El mejor modelo de la familia es RKAN, con splines y recurrencia.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nuestra versión de la figura 5: el error de validación para ventanas de 2 a 336 horas. Las variantes sin recurrencia, que reciben la ventana aplanada, empeoran a medida que la ventana crece: con 168 horas, FKAN ya queda igual que persistencia. RKAN y RFKAN, en cambio, son casi planos: varían menos de tres milésimas entre 2 y 336 horas. Los modelos base, en gris, se comportan distinto: con 2 horas todos empatan, pero el LSTM y el GRU mejoran hasta 24 o 72 horas. La memoria lineal de los nodos recurrentes no aprovecha la historia larga, y las compuertas sí. El paper encuentra que el mejor largo es 2; en nuestros datos eso solo vale para las variantes sin recurrencia.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ablación de la grilla, análoga a la figura 4. El paper dice que la grilla óptima es 100. En nuestros datos no: el mejor punto de RFKAN está en grilla 20, extender el refinamiento hasta 200 da exactamente el mismo resultado, y una grilla fija en 3 queda apenas un 2 por ciento peor. En los 20 brazos del barrido de ventana, ningún modelo competitivo mejora al llegar a 100. Sin embargo, la forma de llegar a una grilla fina sí importa. Si se arranca directamente con 100 armónicos, o si se refina sin bajar la tasa de aprendizaje, el modelo termina peor que persistencia. El refinamiento progresivo con tasa decreciente funciona como un esquema de regularización: no mejora la precisión, pero permite usar grillas finas sin romper el modelo.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comparación con los modelos base de la tabla 5. Aquí el resultado es el contrario al del paper. Con el mismo presupuesto, la misma ventana y la misma salida residual, el LSTM obtiene 0.1012 y el GRU 0.1015, mejor que toda la familia KAN, y la TCN empata con RKAN. El paper reportaba que RFKAN mejoraba el RMSE en más del 58 por ciento frente a GRU y TCN. Los modelos clásicos sí quedan por debajo de RFKAN. ARIMA es interesante: en la cuenca típica es el mejor, con el NSE mediano más alto, pero en algunas ventanas extrapola una tendencia y explota, así que su RMSE global es enorme. El SVR con el C del paper está tan regularizado que queda en persistencia, y el ELM sobreajusta.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paper también compara contra tres modelos avanzados, y los implementamos los tres desde cero. Informer, un Transformer con atención ProbSparse. WVS, que descompone el caudal con VMD, optimiza esa descomposición con el algoritmo de ballenas y predice cada modo con un SCINet. Y TACDPG, un agente de aprendizaje por refuerzo con críticos gemelos y un clasificador CatBoost para outliers. En validación RFKAN supera a los tres, como dice el paper. En test, Informer lo supera y WVS empata, con menor error absoluto medio que RFKAN. TACDPG no llega ni a persistencia: el aprendizaje por refuerzo no logra aprender una corrección útil de 48 horas. Lo que sí se reproduce siempre es la velocidad: RFKAN es cinco veces más rápido que Informer y once veces más rápido que WVS.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Repetimos RFKAN y el LSTM con tres semillas más. RFKAN es muy estable: las cuatro semillas quedan dentro de una milésima y media. El LSTM, en cambio, no sale de persistencia en 2 de sus 4 semillas: su error queda clavado durante las 18 épocas. Cuando entrena, es el mejor modelo; en promedio sobre semillas, RFKAN lo supera. Este es un punto a favor de RFKAN que el paper no mide. A la derecha, el error por hora de horizonte: crece con el horizonte, porque las primeras horas son casi persistencia y las últimas dependen de lluvia futura que el modelo no 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análisis de errores muestra dónde está la ganancia y dónde está la limitación. Casi toda la mejora sobre persistencia ocurre con caudal alto y después de lluvias fuertes, donde RFKAN reduce el error un 25 por ciento y el LSTM un 30. Con caudal bajo, nadie le gana a persistencia, y el error es mayor en los meses fríos. La limitación principal son los picos: en el 1 por ciento de caudales más altos, todos los modelos entrenados subestiman el pico entre un 32 y un 39 por ciento. En estos tres ejemplos se ve: ningún modelo anticipa la crecida. Y en el panel de caudal bajo se ve otra cosa: la familia KAN oscila hora a hora, RFKAN más que ninguno, mientras que el LSTM y la TCN dan curvas suaves.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cerrar. Implementamos RFKAN desde cero y lo adaptamos al caudal: mejora a persistencia un 11 por ciento y a los modelos clásicos. De sus dos contribuciones, la recurrencia se sostiene, igual que en el paper. Fourier no: entrena más rápido, pero es menos preciso que los splines, porque su justificación era la periodicidad de la señal solar y el caudal no la tiene. Refinar la grilla hasta 100 no ayuda, aunque el esquema progresivo es necesario. Y en igualdad de condiciones, el LSTM y el GRU superan a RFKAN, aunque el LSTM falla en la mitad de las semillas. Como trabajo futuro: pérdidas que den más peso a los picos, usar la meteorología futura como supervisión auxiliar y bases de funciones locales en lugar de Fourier.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640080" y="2194560"/>
            <a:ext cx="10908792" cy="1280160"/>
          </a:xfrm>
          <a:prstGeom prst="rect">
            <a:avLst/>
          </a:prstGeom>
          <a:noFill/>
        </p:spPr>
        <p:txBody>
          <a:bodyPr wrap="square">
            <a:spAutoFit/>
          </a:bodyPr>
          <a:lstStyle/>
          <a:p>
            <a:r>
              <a:rPr sz="4800" b="1">
                <a:solidFill>
                  <a:srgbClr val="F4F6F3"/>
                </a:solidFill>
                <a:latin typeface="Source Serif 4"/>
              </a:rPr>
              <a:t>RFKAN para pronóstico de caudal</a:t>
            </a:r>
          </a:p>
        </p:txBody>
      </p:sp>
      <p:sp>
        <p:nvSpPr>
          <p:cNvPr id="3" name="TextBox 2"/>
          <p:cNvSpPr txBox="1"/>
          <p:nvPr/>
        </p:nvSpPr>
        <p:spPr>
          <a:xfrm>
            <a:off x="640080" y="3566160"/>
            <a:ext cx="9144000" cy="1097280"/>
          </a:xfrm>
          <a:prstGeom prst="rect">
            <a:avLst/>
          </a:prstGeom>
          <a:noFill/>
        </p:spPr>
        <p:txBody>
          <a:bodyPr wrap="square">
            <a:spAutoFit/>
          </a:bodyPr>
          <a:lstStyle/>
          <a:p>
            <a:r>
              <a:rPr sz="2000" b="0">
                <a:solidFill>
                  <a:srgbClr val="BFD8D5"/>
                </a:solidFill>
                <a:latin typeface="IBM Plex Sans"/>
              </a:rPr>
              <a:t>Recurrent Fourier-Kolmogorov Arnold Networks (Rong, Lin &amp; Xie, Scientific Reports 15:4684, 2025) adaptadas a 508 cuencas · Laboratorio 2, Deep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METODOLOGÍA</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El problema: 48 horas de caudal</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2</a:t>
            </a:r>
          </a:p>
        </p:txBody>
      </p:sp>
      <p:sp>
        <p:nvSpPr>
          <p:cNvPr id="5" name="TextBox 4"/>
          <p:cNvSpPr txBox="1"/>
          <p:nvPr/>
        </p:nvSpPr>
        <p:spPr>
          <a:xfrm>
            <a:off x="640080" y="1417320"/>
            <a:ext cx="3636264" cy="822960"/>
          </a:xfrm>
          <a:prstGeom prst="rect">
            <a:avLst/>
          </a:prstGeom>
          <a:noFill/>
        </p:spPr>
        <p:txBody>
          <a:bodyPr wrap="square">
            <a:spAutoFit/>
          </a:bodyPr>
          <a:lstStyle/>
          <a:p>
            <a:r>
              <a:rPr sz="4000" b="1">
                <a:solidFill>
                  <a:srgbClr val="D96A1F"/>
                </a:solidFill>
                <a:latin typeface="Source Serif 4"/>
              </a:rPr>
              <a:t>336 h</a:t>
            </a:r>
          </a:p>
        </p:txBody>
      </p:sp>
      <p:sp>
        <p:nvSpPr>
          <p:cNvPr id="6" name="TextBox 5"/>
          <p:cNvSpPr txBox="1"/>
          <p:nvPr/>
        </p:nvSpPr>
        <p:spPr>
          <a:xfrm>
            <a:off x="640080" y="2194560"/>
            <a:ext cx="3453384" cy="548640"/>
          </a:xfrm>
          <a:prstGeom prst="rect">
            <a:avLst/>
          </a:prstGeom>
          <a:noFill/>
        </p:spPr>
        <p:txBody>
          <a:bodyPr wrap="square">
            <a:spAutoFit/>
          </a:bodyPr>
          <a:lstStyle/>
          <a:p>
            <a:r>
              <a:rPr sz="1500" b="0">
                <a:solidFill>
                  <a:srgbClr val="4A5568"/>
                </a:solidFill>
                <a:latin typeface="IBM Plex Sans"/>
              </a:rPr>
              <a:t>de historia, 12 variables</a:t>
            </a:r>
          </a:p>
        </p:txBody>
      </p:sp>
      <p:sp>
        <p:nvSpPr>
          <p:cNvPr id="7" name="TextBox 6"/>
          <p:cNvSpPr txBox="1"/>
          <p:nvPr/>
        </p:nvSpPr>
        <p:spPr>
          <a:xfrm>
            <a:off x="4276344" y="1417320"/>
            <a:ext cx="3636264" cy="822960"/>
          </a:xfrm>
          <a:prstGeom prst="rect">
            <a:avLst/>
          </a:prstGeom>
          <a:noFill/>
        </p:spPr>
        <p:txBody>
          <a:bodyPr wrap="square">
            <a:spAutoFit/>
          </a:bodyPr>
          <a:lstStyle/>
          <a:p>
            <a:r>
              <a:rPr sz="4000" b="1">
                <a:solidFill>
                  <a:srgbClr val="D96A1F"/>
                </a:solidFill>
                <a:latin typeface="Source Serif 4"/>
              </a:rPr>
              <a:t>48 h</a:t>
            </a:r>
          </a:p>
        </p:txBody>
      </p:sp>
      <p:sp>
        <p:nvSpPr>
          <p:cNvPr id="8" name="TextBox 7"/>
          <p:cNvSpPr txBox="1"/>
          <p:nvPr/>
        </p:nvSpPr>
        <p:spPr>
          <a:xfrm>
            <a:off x="4276344" y="2194560"/>
            <a:ext cx="3453384" cy="548640"/>
          </a:xfrm>
          <a:prstGeom prst="rect">
            <a:avLst/>
          </a:prstGeom>
          <a:noFill/>
        </p:spPr>
        <p:txBody>
          <a:bodyPr wrap="square">
            <a:spAutoFit/>
          </a:bodyPr>
          <a:lstStyle/>
          <a:p>
            <a:r>
              <a:rPr sz="1500" b="0">
                <a:solidFill>
                  <a:srgbClr val="4A5568"/>
                </a:solidFill>
                <a:latin typeface="IBM Plex Sans"/>
              </a:rPr>
              <a:t>de caudal a pronosticar</a:t>
            </a:r>
          </a:p>
        </p:txBody>
      </p:sp>
      <p:sp>
        <p:nvSpPr>
          <p:cNvPr id="9" name="TextBox 8"/>
          <p:cNvSpPr txBox="1"/>
          <p:nvPr/>
        </p:nvSpPr>
        <p:spPr>
          <a:xfrm>
            <a:off x="7912608" y="1417320"/>
            <a:ext cx="3636264" cy="822960"/>
          </a:xfrm>
          <a:prstGeom prst="rect">
            <a:avLst/>
          </a:prstGeom>
          <a:noFill/>
        </p:spPr>
        <p:txBody>
          <a:bodyPr wrap="square">
            <a:spAutoFit/>
          </a:bodyPr>
          <a:lstStyle/>
          <a:p>
            <a:r>
              <a:rPr sz="4000" b="1">
                <a:solidFill>
                  <a:srgbClr val="D96A1F"/>
                </a:solidFill>
                <a:latin typeface="Source Serif 4"/>
              </a:rPr>
              <a:t>508</a:t>
            </a:r>
          </a:p>
        </p:txBody>
      </p:sp>
      <p:sp>
        <p:nvSpPr>
          <p:cNvPr id="10" name="TextBox 9"/>
          <p:cNvSpPr txBox="1"/>
          <p:nvPr/>
        </p:nvSpPr>
        <p:spPr>
          <a:xfrm>
            <a:off x="7912608" y="2194560"/>
            <a:ext cx="3453384" cy="548640"/>
          </a:xfrm>
          <a:prstGeom prst="rect">
            <a:avLst/>
          </a:prstGeom>
          <a:noFill/>
        </p:spPr>
        <p:txBody>
          <a:bodyPr wrap="square">
            <a:spAutoFit/>
          </a:bodyPr>
          <a:lstStyle/>
          <a:p>
            <a:r>
              <a:rPr sz="1500" b="0">
                <a:solidFill>
                  <a:srgbClr val="4A5568"/>
                </a:solidFill>
                <a:latin typeface="IBM Plex Sans"/>
              </a:rPr>
              <a:t>cuencas, las mismas en train, val y test</a:t>
            </a:r>
          </a:p>
        </p:txBody>
      </p:sp>
      <p:sp>
        <p:nvSpPr>
          <p:cNvPr id="11" name="TextBox 10"/>
          <p:cNvSpPr txBox="1"/>
          <p:nvPr/>
        </p:nvSpPr>
        <p:spPr>
          <a:xfrm>
            <a:off x="640080" y="2971800"/>
            <a:ext cx="10908792" cy="822960"/>
          </a:xfrm>
          <a:prstGeom prst="rect">
            <a:avLst/>
          </a:prstGeom>
          <a:noFill/>
        </p:spPr>
        <p:txBody>
          <a:bodyPr wrap="square">
            <a:spAutoFit/>
          </a:bodyPr>
          <a:lstStyle/>
          <a:p>
            <a:r>
              <a:rPr sz="1700" b="0">
                <a:solidFill>
                  <a:srgbClr val="4A5568"/>
                </a:solidFill>
                <a:latin typeface="IBM Plex Sans"/>
              </a:rPr>
              <a:t>Entrada: precipitación, temperatura, radiación, viento, humedad, presión, evaporación y caudal. Salida: caudal específico en mm/h. 254 000 ventanas de train, 18 142 de validación y 27 983 de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METODOLOGÍA</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El paper: RFKAN para potencia solar</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3</a:t>
            </a:r>
          </a:p>
        </p:txBody>
      </p:sp>
      <p:sp>
        <p:nvSpPr>
          <p:cNvPr id="5" name="TextBox 4"/>
          <p:cNvSpPr txBox="1"/>
          <p:nvPr/>
        </p:nvSpPr>
        <p:spPr>
          <a:xfrm>
            <a:off x="640080" y="1417320"/>
            <a:ext cx="10908792" cy="2286000"/>
          </a:xfrm>
          <a:prstGeom prst="rect">
            <a:avLst/>
          </a:prstGeom>
          <a:noFill/>
        </p:spPr>
        <p:txBody>
          <a:bodyPr wrap="square">
            <a:spAutoFit/>
          </a:bodyPr>
          <a:lstStyle/>
          <a:p>
            <a:pPr>
              <a:spcAft>
                <a:spcPts val="800"/>
              </a:spcAft>
            </a:pPr>
            <a:r>
              <a:rPr sz="1900">
                <a:solidFill>
                  <a:srgbClr val="1F2933"/>
                </a:solidFill>
                <a:latin typeface="IBM Plex Sans"/>
              </a:rPr>
              <a:t>•  Pronóstico day-ahead de una planta fotovoltaica de 45 kW (Tieling, China, 2023).</a:t>
            </a:r>
          </a:p>
          <a:p>
            <a:pPr>
              <a:spcAft>
                <a:spcPts val="800"/>
              </a:spcAft>
            </a:pPr>
            <a:r>
              <a:rPr sz="1900">
                <a:solidFill>
                  <a:srgbClr val="1F2933"/>
                </a:solidFill>
                <a:latin typeface="IBM Plex Sans"/>
              </a:rPr>
              <a:t>•  Parte de una KAN de dos capas y le agrega dos cosas:</a:t>
            </a:r>
          </a:p>
          <a:p>
            <a:pPr>
              <a:spcAft>
                <a:spcPts val="800"/>
              </a:spcAft>
            </a:pPr>
            <a:r>
              <a:rPr sz="1900">
                <a:solidFill>
                  <a:srgbClr val="1F2933"/>
                </a:solidFill>
                <a:latin typeface="IBM Plex Sans"/>
              </a:rPr>
              <a:t>•  1. nodos kernel recurrentes, para capturar la dependencia temporal;</a:t>
            </a:r>
          </a:p>
          <a:p>
            <a:pPr>
              <a:spcAft>
                <a:spcPts val="800"/>
              </a:spcAft>
            </a:pPr>
            <a:r>
              <a:rPr sz="1900">
                <a:solidFill>
                  <a:srgbClr val="1F2933"/>
                </a:solidFill>
                <a:latin typeface="IBM Plex Sans"/>
              </a:rPr>
              <a:t>•  2. series de Fourier en lugar de splines, para extraer periodicidad y entrenar más rápido.</a:t>
            </a:r>
          </a:p>
          <a:p>
            <a:pPr>
              <a:spcAft>
                <a:spcPts val="800"/>
              </a:spcAft>
            </a:pPr>
            <a:r>
              <a:rPr sz="1900">
                <a:solidFill>
                  <a:srgbClr val="1F2933"/>
                </a:solidFill>
                <a:latin typeface="IBM Plex Sans"/>
              </a:rPr>
              <a:t>•  Entrena con refinamiento de grilla: 3 → 5 → 10 → 20 → 50 → 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METODOLOGÍA</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Kolmogorov–Arnold: funciones en las aristas</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4</a:t>
            </a:r>
          </a:p>
        </p:txBody>
      </p:sp>
      <p:sp>
        <p:nvSpPr>
          <p:cNvPr id="5" name="TextBox 4"/>
          <p:cNvSpPr txBox="1"/>
          <p:nvPr/>
        </p:nvSpPr>
        <p:spPr>
          <a:xfrm>
            <a:off x="640080" y="1417320"/>
            <a:ext cx="10908792" cy="548640"/>
          </a:xfrm>
          <a:prstGeom prst="rect">
            <a:avLst/>
          </a:prstGeom>
          <a:noFill/>
        </p:spPr>
        <p:txBody>
          <a:bodyPr wrap="square">
            <a:spAutoFit/>
          </a:bodyPr>
          <a:lstStyle/>
          <a:p>
            <a:pPr algn="ctr"/>
            <a:r>
              <a:rPr sz="2400" b="0">
                <a:solidFill>
                  <a:srgbClr val="14213D"/>
                </a:solidFill>
                <a:latin typeface="Cambria Math"/>
              </a:rPr>
              <a:t>f(x₁,…,xₙ) = Σ_{q=1}^{2n+1} Φ_q( Σ_{p=1}^{n} φ_{q,p}(x_p) )</a:t>
            </a:r>
          </a:p>
        </p:txBody>
      </p:sp>
      <p:sp>
        <p:nvSpPr>
          <p:cNvPr id="6" name="TextBox 5"/>
          <p:cNvSpPr txBox="1"/>
          <p:nvPr/>
        </p:nvSpPr>
        <p:spPr>
          <a:xfrm>
            <a:off x="640080" y="2148840"/>
            <a:ext cx="10908792" cy="1371600"/>
          </a:xfrm>
          <a:prstGeom prst="rect">
            <a:avLst/>
          </a:prstGeom>
          <a:noFill/>
        </p:spPr>
        <p:txBody>
          <a:bodyPr wrap="square">
            <a:spAutoFit/>
          </a:bodyPr>
          <a:lstStyle/>
          <a:p>
            <a:pPr>
              <a:spcAft>
                <a:spcPts val="800"/>
              </a:spcAft>
            </a:pPr>
            <a:r>
              <a:rPr sz="1900">
                <a:solidFill>
                  <a:srgbClr val="1F2933"/>
                </a:solidFill>
                <a:latin typeface="IBM Plex Sans"/>
              </a:rPr>
              <a:t>•  Un MLP tiene pesos en las aristas y una no linealidad fija en los nodos.</a:t>
            </a:r>
          </a:p>
          <a:p>
            <a:pPr>
              <a:spcAft>
                <a:spcPts val="800"/>
              </a:spcAft>
            </a:pPr>
            <a:r>
              <a:rPr sz="1900">
                <a:solidFill>
                  <a:srgbClr val="1F2933"/>
                </a:solidFill>
                <a:latin typeface="IBM Plex Sans"/>
              </a:rPr>
              <a:t>•  Una KAN tiene una función univariada aprendible φ en cada arista; los nodos solo suman.</a:t>
            </a:r>
          </a:p>
          <a:p>
            <a:pPr>
              <a:spcAft>
                <a:spcPts val="800"/>
              </a:spcAft>
            </a:pPr>
            <a:r>
              <a:rPr sz="1900">
                <a:solidFill>
                  <a:srgbClr val="1F2933"/>
                </a:solidFill>
                <a:latin typeface="IBM Plex Sans"/>
              </a:rPr>
              <a:t>•  Dos capas: n → 2n+1 → salida. Con 12 canales, 12 → 25 →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METODOLOGÍA</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Nodos kernel recurrentes</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5</a:t>
            </a:r>
          </a:p>
        </p:txBody>
      </p:sp>
      <p:sp>
        <p:nvSpPr>
          <p:cNvPr id="5" name="TextBox 4"/>
          <p:cNvSpPr txBox="1"/>
          <p:nvPr/>
        </p:nvSpPr>
        <p:spPr>
          <a:xfrm>
            <a:off x="640080" y="1417320"/>
            <a:ext cx="10908792" cy="548640"/>
          </a:xfrm>
          <a:prstGeom prst="rect">
            <a:avLst/>
          </a:prstGeom>
          <a:noFill/>
        </p:spPr>
        <p:txBody>
          <a:bodyPr wrap="square">
            <a:spAutoFit/>
          </a:bodyPr>
          <a:lstStyle/>
          <a:p>
            <a:pPr algn="ctr"/>
            <a:r>
              <a:rPr sz="2400" b="0">
                <a:solidFill>
                  <a:srgbClr val="14213D"/>
                </a:solidFill>
                <a:latin typeface="Cambria Math"/>
              </a:rPr>
              <a:t>h(t) = W_hh · h(t−1) + W_hz · x(t)</a:t>
            </a:r>
          </a:p>
        </p:txBody>
      </p:sp>
      <p:sp>
        <p:nvSpPr>
          <p:cNvPr id="6" name="TextBox 5"/>
          <p:cNvSpPr txBox="1"/>
          <p:nvPr/>
        </p:nvSpPr>
        <p:spPr>
          <a:xfrm>
            <a:off x="640080" y="2011680"/>
            <a:ext cx="10908792" cy="548640"/>
          </a:xfrm>
          <a:prstGeom prst="rect">
            <a:avLst/>
          </a:prstGeom>
          <a:noFill/>
        </p:spPr>
        <p:txBody>
          <a:bodyPr wrap="square">
            <a:spAutoFit/>
          </a:bodyPr>
          <a:lstStyle/>
          <a:p>
            <a:pPr algn="ctr"/>
            <a:r>
              <a:rPr sz="2400" b="0">
                <a:solidFill>
                  <a:srgbClr val="14213D"/>
                </a:solidFill>
                <a:latin typeface="Cambria Math"/>
              </a:rPr>
              <a:t>x_{l+1,j}(t) = Σ_i φ_{l,j,i,t}( x_{l,i}(t), h_{l,i}(t) )</a:t>
            </a:r>
          </a:p>
        </p:txBody>
      </p:sp>
      <p:sp>
        <p:nvSpPr>
          <p:cNvPr id="7" name="TextBox 6"/>
          <p:cNvSpPr txBox="1"/>
          <p:nvPr/>
        </p:nvSpPr>
        <p:spPr>
          <a:xfrm>
            <a:off x="640080" y="2743200"/>
            <a:ext cx="10908792" cy="822960"/>
          </a:xfrm>
          <a:prstGeom prst="rect">
            <a:avLst/>
          </a:prstGeom>
          <a:noFill/>
        </p:spPr>
        <p:txBody>
          <a:bodyPr wrap="square">
            <a:spAutoFit/>
          </a:bodyPr>
          <a:lstStyle/>
          <a:p>
            <a:r>
              <a:rPr sz="1700" b="0">
                <a:solidFill>
                  <a:srgbClr val="4A5568"/>
                </a:solidFill>
                <a:latin typeface="IBM Plex Sans"/>
              </a:rPr>
              <a:t>Una memoria lineal tipo RNN que entra en paralelo con los nodos normales a cada capa. Cada arista ve el valor actual y un resumen de todo lo anterior.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METODOLOGÍA</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Fourier en lugar de splines</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6</a:t>
            </a:r>
          </a:p>
        </p:txBody>
      </p:sp>
      <p:sp>
        <p:nvSpPr>
          <p:cNvPr id="5" name="TextBox 4"/>
          <p:cNvSpPr txBox="1"/>
          <p:nvPr/>
        </p:nvSpPr>
        <p:spPr>
          <a:xfrm>
            <a:off x="640080" y="1417320"/>
            <a:ext cx="10908792" cy="548640"/>
          </a:xfrm>
          <a:prstGeom prst="rect">
            <a:avLst/>
          </a:prstGeom>
          <a:noFill/>
        </p:spPr>
        <p:txBody>
          <a:bodyPr wrap="square">
            <a:spAutoFit/>
          </a:bodyPr>
          <a:lstStyle/>
          <a:p>
            <a:pPr algn="ctr"/>
            <a:r>
              <a:rPr sz="2400" b="0">
                <a:solidFill>
                  <a:srgbClr val="14213D"/>
                </a:solidFill>
                <a:latin typeface="Cambria Math"/>
              </a:rPr>
              <a:t>φ_F(x) = Σ_i Σ_{k=1}^{g} a_ik cos(k·x_i) + b_ik sin(k·x_i)</a:t>
            </a:r>
          </a:p>
        </p:txBody>
      </p:sp>
      <p:sp>
        <p:nvSpPr>
          <p:cNvPr id="6" name="TextBox 5"/>
          <p:cNvSpPr txBox="1"/>
          <p:nvPr/>
        </p:nvSpPr>
        <p:spPr>
          <a:xfrm>
            <a:off x="640080" y="2148840"/>
            <a:ext cx="10908792" cy="1371600"/>
          </a:xfrm>
          <a:prstGeom prst="rect">
            <a:avLst/>
          </a:prstGeom>
          <a:noFill/>
        </p:spPr>
        <p:txBody>
          <a:bodyPr wrap="square">
            <a:spAutoFit/>
          </a:bodyPr>
          <a:lstStyle/>
          <a:p>
            <a:pPr>
              <a:spcAft>
                <a:spcPts val="800"/>
              </a:spcAft>
            </a:pPr>
            <a:r>
              <a:rPr sz="1900">
                <a:solidFill>
                  <a:srgbClr val="1F2933"/>
                </a:solidFill>
                <a:latin typeface="IBM Plex Sans"/>
              </a:rPr>
              <a:t>•  g = tamaño de grilla = número de armónicos.</a:t>
            </a:r>
          </a:p>
          <a:p>
            <a:pPr>
              <a:spcAft>
                <a:spcPts val="800"/>
              </a:spcAft>
            </a:pPr>
            <a:r>
              <a:rPr sz="1900">
                <a:solidFill>
                  <a:srgbClr val="1F2933"/>
                </a:solidFill>
                <a:latin typeface="IBM Plex Sans"/>
              </a:rPr>
              <a:t>•  Refinar la grilla = agregar armónicos; los nuevos arrancan en 0 y la función heredada no cambia.</a:t>
            </a:r>
          </a:p>
          <a:p>
            <a:pPr>
              <a:spcAft>
                <a:spcPts val="800"/>
              </a:spcAft>
            </a:pPr>
            <a:r>
              <a:rPr sz="1900">
                <a:solidFill>
                  <a:srgbClr val="1F2933"/>
                </a:solidFill>
                <a:latin typeface="IBM Plex Sans"/>
              </a:rPr>
              <a:t>•  Argumento del paper: la potencia solar es periódica, y Fourier la captura con pocos parámetros.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METODOLOGÍA</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Lo que reporta el paper</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7</a:t>
            </a:r>
          </a:p>
        </p:txBody>
      </p:sp>
      <p:graphicFrame>
        <p:nvGraphicFramePr>
          <p:cNvPr id="5" name="Table 4"/>
          <p:cNvGraphicFramePr>
            <a:graphicFrameLocks noGrp="1"/>
          </p:cNvGraphicFramePr>
          <p:nvPr/>
        </p:nvGraphicFramePr>
        <p:xfrm>
          <a:off x="640080" y="1417320"/>
          <a:ext cx="10908792" cy="1645920"/>
        </p:xfrm>
        <a:graphic>
          <a:graphicData uri="http://schemas.openxmlformats.org/drawingml/2006/table">
            <a:tbl>
              <a:tblPr firstRow="1" bandRow="1">
                <a:tableStyleId>{5C22544A-7EE6-4342-B048-85BDC9FD1C3A}</a:tableStyleId>
              </a:tblPr>
              <a:tblGrid>
                <a:gridCol w="2181758"/>
                <a:gridCol w="2181758"/>
                <a:gridCol w="2181758"/>
                <a:gridCol w="2181758"/>
                <a:gridCol w="2181760"/>
              </a:tblGrid>
              <a:tr h="329184">
                <a:tc>
                  <a:txBody>
                    <a:bodyPr/>
                    <a:lstStyle/>
                    <a:p>
                      <a:r>
                        <a:rPr sz="1300" b="1">
                          <a:solidFill>
                            <a:srgbClr val="F4F6F3"/>
                          </a:solidFill>
                          <a:latin typeface="IBM Plex Sans"/>
                        </a:rPr>
                        <a:t>Modelo</a:t>
                      </a:r>
                    </a:p>
                  </a:txBody>
                  <a:tcPr>
                    <a:solidFill>
                      <a:srgbClr val="14213D"/>
                    </a:solidFill>
                  </a:tcPr>
                </a:tc>
                <a:tc>
                  <a:txBody>
                    <a:bodyPr/>
                    <a:lstStyle/>
                    <a:p>
                      <a:r>
                        <a:rPr sz="1300" b="1">
                          <a:solidFill>
                            <a:srgbClr val="F4F6F3"/>
                          </a:solidFill>
                          <a:latin typeface="IBM Plex Sans"/>
                        </a:rPr>
                        <a:t>RMSE</a:t>
                      </a:r>
                    </a:p>
                  </a:txBody>
                  <a:tcPr>
                    <a:solidFill>
                      <a:srgbClr val="14213D"/>
                    </a:solidFill>
                  </a:tcPr>
                </a:tc>
                <a:tc>
                  <a:txBody>
                    <a:bodyPr/>
                    <a:lstStyle/>
                    <a:p>
                      <a:r>
                        <a:rPr sz="1300" b="1">
                          <a:solidFill>
                            <a:srgbClr val="F4F6F3"/>
                          </a:solidFill>
                          <a:latin typeface="IBM Plex Sans"/>
                        </a:rPr>
                        <a:t>MAE</a:t>
                      </a:r>
                    </a:p>
                  </a:txBody>
                  <a:tcPr>
                    <a:solidFill>
                      <a:srgbClr val="14213D"/>
                    </a:solidFill>
                  </a:tcPr>
                </a:tc>
                <a:tc>
                  <a:txBody>
                    <a:bodyPr/>
                    <a:lstStyle/>
                    <a:p>
                      <a:r>
                        <a:rPr sz="1300" b="1">
                          <a:solidFill>
                            <a:srgbClr val="F4F6F3"/>
                          </a:solidFill>
                          <a:latin typeface="IBM Plex Sans"/>
                        </a:rPr>
                        <a:t>CORR</a:t>
                      </a:r>
                    </a:p>
                  </a:txBody>
                  <a:tcPr>
                    <a:solidFill>
                      <a:srgbClr val="14213D"/>
                    </a:solidFill>
                  </a:tcPr>
                </a:tc>
                <a:tc>
                  <a:txBody>
                    <a:bodyPr/>
                    <a:lstStyle/>
                    <a:p>
                      <a:r>
                        <a:rPr sz="1300" b="1">
                          <a:solidFill>
                            <a:srgbClr val="F4F6F3"/>
                          </a:solidFill>
                          <a:latin typeface="IBM Plex Sans"/>
                        </a:rPr>
                        <a:t>Tiempo (s)</a:t>
                      </a:r>
                    </a:p>
                  </a:txBody>
                  <a:tcPr>
                    <a:solidFill>
                      <a:srgbClr val="14213D"/>
                    </a:solidFill>
                  </a:tcPr>
                </a:tc>
              </a:tr>
              <a:tr h="329184">
                <a:tc>
                  <a:txBody>
                    <a:bodyPr/>
                    <a:lstStyle/>
                    <a:p>
                      <a:r>
                        <a:rPr sz="1300">
                          <a:latin typeface="IBM Plex Sans"/>
                        </a:rPr>
                        <a:t>KAN</a:t>
                      </a:r>
                    </a:p>
                  </a:txBody>
                  <a:tcPr>
                    <a:solidFill>
                      <a:srgbClr val="FFFFFF"/>
                    </a:solidFill>
                  </a:tcPr>
                </a:tc>
                <a:tc>
                  <a:txBody>
                    <a:bodyPr/>
                    <a:lstStyle/>
                    <a:p>
                      <a:r>
                        <a:rPr sz="1300">
                          <a:latin typeface="IBM Plex Sans"/>
                        </a:rPr>
                        <a:t>5.43</a:t>
                      </a:r>
                    </a:p>
                  </a:txBody>
                  <a:tcPr>
                    <a:solidFill>
                      <a:srgbClr val="FFFFFF"/>
                    </a:solidFill>
                  </a:tcPr>
                </a:tc>
                <a:tc>
                  <a:txBody>
                    <a:bodyPr/>
                    <a:lstStyle/>
                    <a:p>
                      <a:r>
                        <a:rPr sz="1300">
                          <a:latin typeface="IBM Plex Sans"/>
                        </a:rPr>
                        <a:t>3.01</a:t>
                      </a:r>
                    </a:p>
                  </a:txBody>
                  <a:tcPr>
                    <a:solidFill>
                      <a:srgbClr val="FFFFFF"/>
                    </a:solidFill>
                  </a:tcPr>
                </a:tc>
                <a:tc>
                  <a:txBody>
                    <a:bodyPr/>
                    <a:lstStyle/>
                    <a:p>
                      <a:r>
                        <a:rPr sz="1300">
                          <a:latin typeface="IBM Plex Sans"/>
                        </a:rPr>
                        <a:t>0.868</a:t>
                      </a:r>
                    </a:p>
                  </a:txBody>
                  <a:tcPr>
                    <a:solidFill>
                      <a:srgbClr val="FFFFFF"/>
                    </a:solidFill>
                  </a:tcPr>
                </a:tc>
                <a:tc>
                  <a:txBody>
                    <a:bodyPr/>
                    <a:lstStyle/>
                    <a:p>
                      <a:r>
                        <a:rPr sz="1300">
                          <a:latin typeface="IBM Plex Sans"/>
                        </a:rPr>
                        <a:t>4126</a:t>
                      </a:r>
                    </a:p>
                  </a:txBody>
                  <a:tcPr>
                    <a:solidFill>
                      <a:srgbClr val="FFFFFF"/>
                    </a:solidFill>
                  </a:tcPr>
                </a:tc>
              </a:tr>
              <a:tr h="329184">
                <a:tc>
                  <a:txBody>
                    <a:bodyPr/>
                    <a:lstStyle/>
                    <a:p>
                      <a:r>
                        <a:rPr sz="1300">
                          <a:latin typeface="IBM Plex Sans"/>
                        </a:rPr>
                        <a:t>RKAN</a:t>
                      </a:r>
                    </a:p>
                  </a:txBody>
                  <a:tcPr>
                    <a:solidFill>
                      <a:srgbClr val="ECF0EE"/>
                    </a:solidFill>
                  </a:tcPr>
                </a:tc>
                <a:tc>
                  <a:txBody>
                    <a:bodyPr/>
                    <a:lstStyle/>
                    <a:p>
                      <a:r>
                        <a:rPr sz="1300">
                          <a:latin typeface="IBM Plex Sans"/>
                        </a:rPr>
                        <a:t>4.37</a:t>
                      </a:r>
                    </a:p>
                  </a:txBody>
                  <a:tcPr>
                    <a:solidFill>
                      <a:srgbClr val="ECF0EE"/>
                    </a:solidFill>
                  </a:tcPr>
                </a:tc>
                <a:tc>
                  <a:txBody>
                    <a:bodyPr/>
                    <a:lstStyle/>
                    <a:p>
                      <a:r>
                        <a:rPr sz="1300">
                          <a:latin typeface="IBM Plex Sans"/>
                        </a:rPr>
                        <a:t>2.64</a:t>
                      </a:r>
                    </a:p>
                  </a:txBody>
                  <a:tcPr>
                    <a:solidFill>
                      <a:srgbClr val="ECF0EE"/>
                    </a:solidFill>
                  </a:tcPr>
                </a:tc>
                <a:tc>
                  <a:txBody>
                    <a:bodyPr/>
                    <a:lstStyle/>
                    <a:p>
                      <a:r>
                        <a:rPr sz="1300">
                          <a:latin typeface="IBM Plex Sans"/>
                        </a:rPr>
                        <a:t>0.925</a:t>
                      </a:r>
                    </a:p>
                  </a:txBody>
                  <a:tcPr>
                    <a:solidFill>
                      <a:srgbClr val="ECF0EE"/>
                    </a:solidFill>
                  </a:tcPr>
                </a:tc>
                <a:tc>
                  <a:txBody>
                    <a:bodyPr/>
                    <a:lstStyle/>
                    <a:p>
                      <a:r>
                        <a:rPr sz="1300">
                          <a:latin typeface="IBM Plex Sans"/>
                        </a:rPr>
                        <a:t>4794</a:t>
                      </a:r>
                    </a:p>
                  </a:txBody>
                  <a:tcPr>
                    <a:solidFill>
                      <a:srgbClr val="ECF0EE"/>
                    </a:solidFill>
                  </a:tcPr>
                </a:tc>
              </a:tr>
              <a:tr h="329184">
                <a:tc>
                  <a:txBody>
                    <a:bodyPr/>
                    <a:lstStyle/>
                    <a:p>
                      <a:r>
                        <a:rPr sz="1300">
                          <a:latin typeface="IBM Plex Sans"/>
                        </a:rPr>
                        <a:t>FKAN</a:t>
                      </a:r>
                    </a:p>
                  </a:txBody>
                  <a:tcPr>
                    <a:solidFill>
                      <a:srgbClr val="FFFFFF"/>
                    </a:solidFill>
                  </a:tcPr>
                </a:tc>
                <a:tc>
                  <a:txBody>
                    <a:bodyPr/>
                    <a:lstStyle/>
                    <a:p>
                      <a:r>
                        <a:rPr sz="1300">
                          <a:latin typeface="IBM Plex Sans"/>
                        </a:rPr>
                        <a:t>4.18</a:t>
                      </a:r>
                    </a:p>
                  </a:txBody>
                  <a:tcPr>
                    <a:solidFill>
                      <a:srgbClr val="FFFFFF"/>
                    </a:solidFill>
                  </a:tcPr>
                </a:tc>
                <a:tc>
                  <a:txBody>
                    <a:bodyPr/>
                    <a:lstStyle/>
                    <a:p>
                      <a:r>
                        <a:rPr sz="1300">
                          <a:latin typeface="IBM Plex Sans"/>
                        </a:rPr>
                        <a:t>2.77</a:t>
                      </a:r>
                    </a:p>
                  </a:txBody>
                  <a:tcPr>
                    <a:solidFill>
                      <a:srgbClr val="FFFFFF"/>
                    </a:solidFill>
                  </a:tcPr>
                </a:tc>
                <a:tc>
                  <a:txBody>
                    <a:bodyPr/>
                    <a:lstStyle/>
                    <a:p>
                      <a:r>
                        <a:rPr sz="1300">
                          <a:latin typeface="IBM Plex Sans"/>
                        </a:rPr>
                        <a:t>0.919</a:t>
                      </a:r>
                    </a:p>
                  </a:txBody>
                  <a:tcPr>
                    <a:solidFill>
                      <a:srgbClr val="FFFFFF"/>
                    </a:solidFill>
                  </a:tcPr>
                </a:tc>
                <a:tc>
                  <a:txBody>
                    <a:bodyPr/>
                    <a:lstStyle/>
                    <a:p>
                      <a:r>
                        <a:rPr sz="1300">
                          <a:latin typeface="IBM Plex Sans"/>
                        </a:rPr>
                        <a:t>3126</a:t>
                      </a:r>
                    </a:p>
                  </a:txBody>
                  <a:tcPr>
                    <a:solidFill>
                      <a:srgbClr val="FFFFFF"/>
                    </a:solidFill>
                  </a:tcPr>
                </a:tc>
              </a:tr>
              <a:tr h="329184">
                <a:tc>
                  <a:txBody>
                    <a:bodyPr/>
                    <a:lstStyle/>
                    <a:p>
                      <a:r>
                        <a:rPr sz="1300">
                          <a:latin typeface="IBM Plex Sans"/>
                        </a:rPr>
                        <a:t>RFKAN</a:t>
                      </a:r>
                    </a:p>
                  </a:txBody>
                  <a:tcPr>
                    <a:solidFill>
                      <a:srgbClr val="ECF0EE"/>
                    </a:solidFill>
                  </a:tcPr>
                </a:tc>
                <a:tc>
                  <a:txBody>
                    <a:bodyPr/>
                    <a:lstStyle/>
                    <a:p>
                      <a:r>
                        <a:rPr sz="1300">
                          <a:latin typeface="IBM Plex Sans"/>
                        </a:rPr>
                        <a:t>3.42</a:t>
                      </a:r>
                    </a:p>
                  </a:txBody>
                  <a:tcPr>
                    <a:solidFill>
                      <a:srgbClr val="ECF0EE"/>
                    </a:solidFill>
                  </a:tcPr>
                </a:tc>
                <a:tc>
                  <a:txBody>
                    <a:bodyPr/>
                    <a:lstStyle/>
                    <a:p>
                      <a:r>
                        <a:rPr sz="1300">
                          <a:latin typeface="IBM Plex Sans"/>
                        </a:rPr>
                        <a:t>1.61</a:t>
                      </a:r>
                    </a:p>
                  </a:txBody>
                  <a:tcPr>
                    <a:solidFill>
                      <a:srgbClr val="ECF0EE"/>
                    </a:solidFill>
                  </a:tcPr>
                </a:tc>
                <a:tc>
                  <a:txBody>
                    <a:bodyPr/>
                    <a:lstStyle/>
                    <a:p>
                      <a:r>
                        <a:rPr sz="1300">
                          <a:latin typeface="IBM Plex Sans"/>
                        </a:rPr>
                        <a:t>0.946</a:t>
                      </a:r>
                    </a:p>
                  </a:txBody>
                  <a:tcPr>
                    <a:solidFill>
                      <a:srgbClr val="ECF0EE"/>
                    </a:solidFill>
                  </a:tcPr>
                </a:tc>
                <a:tc>
                  <a:txBody>
                    <a:bodyPr/>
                    <a:lstStyle/>
                    <a:p>
                      <a:r>
                        <a:rPr sz="1300">
                          <a:latin typeface="IBM Plex Sans"/>
                        </a:rPr>
                        <a:t>3519</a:t>
                      </a:r>
                    </a:p>
                  </a:txBody>
                  <a:tcPr>
                    <a:solidFill>
                      <a:srgbClr val="ECF0EE"/>
                    </a:solidFill>
                  </a:tcPr>
                </a:tc>
              </a:tr>
            </a:tbl>
          </a:graphicData>
        </a:graphic>
      </p:graphicFrame>
      <p:sp>
        <p:nvSpPr>
          <p:cNvPr id="6" name="TextBox 5"/>
          <p:cNvSpPr txBox="1"/>
          <p:nvPr/>
        </p:nvSpPr>
        <p:spPr>
          <a:xfrm>
            <a:off x="640080" y="3291840"/>
            <a:ext cx="10908792" cy="914400"/>
          </a:xfrm>
          <a:prstGeom prst="rect">
            <a:avLst/>
          </a:prstGeom>
          <a:noFill/>
        </p:spPr>
        <p:txBody>
          <a:bodyPr wrap="square">
            <a:spAutoFit/>
          </a:bodyPr>
          <a:lstStyle/>
          <a:p>
            <a:pPr>
              <a:spcAft>
                <a:spcPts val="800"/>
              </a:spcAft>
            </a:pPr>
            <a:r>
              <a:rPr sz="1900">
                <a:solidFill>
                  <a:srgbClr val="1F2933"/>
                </a:solidFill>
                <a:latin typeface="IBM Plex Sans"/>
              </a:rPr>
              <a:t>•  Óptimo: grilla 100 y largo de entrada 2. Supera a ARIMA, SVM, ELM, GRU y TCN.</a:t>
            </a:r>
          </a:p>
          <a:p>
            <a:pPr>
              <a:spcAft>
                <a:spcPts val="800"/>
              </a:spcAft>
            </a:pPr>
            <a:r>
              <a:rPr sz="1900">
                <a:solidFill>
                  <a:srgbClr val="1F2933"/>
                </a:solidFill>
                <a:latin typeface="IBM Plex Sans"/>
              </a:rPr>
              <a:t>•  Inconsistencias: seq_len 12 contra 2; LSTM (Tabla 5) contra GRU (Tabla 6); CORR es R².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IMPLEMENTACIÓN</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Del sol al río: qué se adaptó</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8</a:t>
            </a:r>
          </a:p>
        </p:txBody>
      </p:sp>
      <p:graphicFrame>
        <p:nvGraphicFramePr>
          <p:cNvPr id="5" name="Table 4"/>
          <p:cNvGraphicFramePr>
            <a:graphicFrameLocks noGrp="1"/>
          </p:cNvGraphicFramePr>
          <p:nvPr/>
        </p:nvGraphicFramePr>
        <p:xfrm>
          <a:off x="640080" y="1417320"/>
          <a:ext cx="10908792" cy="1975104"/>
        </p:xfrm>
        <a:graphic>
          <a:graphicData uri="http://schemas.openxmlformats.org/drawingml/2006/table">
            <a:tbl>
              <a:tblPr firstRow="1" bandRow="1">
                <a:tableStyleId>{5C22544A-7EE6-4342-B048-85BDC9FD1C3A}</a:tableStyleId>
              </a:tblPr>
              <a:tblGrid>
                <a:gridCol w="3636264"/>
                <a:gridCol w="3636264"/>
                <a:gridCol w="3636264"/>
              </a:tblGrid>
              <a:tr h="329184">
                <a:tc>
                  <a:txBody>
                    <a:bodyPr/>
                    <a:lstStyle/>
                    <a:p/>
                  </a:txBody>
                  <a:tcPr>
                    <a:solidFill>
                      <a:srgbClr val="14213D"/>
                    </a:solidFill>
                  </a:tcPr>
                </a:tc>
                <a:tc>
                  <a:txBody>
                    <a:bodyPr/>
                    <a:lstStyle/>
                    <a:p>
                      <a:r>
                        <a:rPr sz="1300" b="1">
                          <a:solidFill>
                            <a:srgbClr val="F4F6F3"/>
                          </a:solidFill>
                          <a:latin typeface="IBM Plex Sans"/>
                        </a:rPr>
                        <a:t>Paper</a:t>
                      </a:r>
                    </a:p>
                  </a:txBody>
                  <a:tcPr>
                    <a:solidFill>
                      <a:srgbClr val="14213D"/>
                    </a:solidFill>
                  </a:tcPr>
                </a:tc>
                <a:tc>
                  <a:txBody>
                    <a:bodyPr/>
                    <a:lstStyle/>
                    <a:p>
                      <a:r>
                        <a:rPr sz="1300" b="1">
                          <a:solidFill>
                            <a:srgbClr val="F4F6F3"/>
                          </a:solidFill>
                          <a:latin typeface="IBM Plex Sans"/>
                        </a:rPr>
                        <a:t>Laboratorio</a:t>
                      </a:r>
                    </a:p>
                  </a:txBody>
                  <a:tcPr>
                    <a:solidFill>
                      <a:srgbClr val="14213D"/>
                    </a:solidFill>
                  </a:tcPr>
                </a:tc>
              </a:tr>
              <a:tr h="329184">
                <a:tc>
                  <a:txBody>
                    <a:bodyPr/>
                    <a:lstStyle/>
                    <a:p>
                      <a:r>
                        <a:rPr sz="1300">
                          <a:latin typeface="IBM Plex Sans"/>
                        </a:rPr>
                        <a:t>Objetivo</a:t>
                      </a:r>
                    </a:p>
                  </a:txBody>
                  <a:tcPr>
                    <a:solidFill>
                      <a:srgbClr val="FFFFFF"/>
                    </a:solidFill>
                  </a:tcPr>
                </a:tc>
                <a:tc>
                  <a:txBody>
                    <a:bodyPr/>
                    <a:lstStyle/>
                    <a:p>
                      <a:r>
                        <a:rPr sz="1300">
                          <a:latin typeface="IBM Plex Sans"/>
                        </a:rPr>
                        <a:t>potencia PV</a:t>
                      </a:r>
                    </a:p>
                  </a:txBody>
                  <a:tcPr>
                    <a:solidFill>
                      <a:srgbClr val="FFFFFF"/>
                    </a:solidFill>
                  </a:tcPr>
                </a:tc>
                <a:tc>
                  <a:txBody>
                    <a:bodyPr/>
                    <a:lstStyle/>
                    <a:p>
                      <a:r>
                        <a:rPr sz="1300">
                          <a:latin typeface="IBM Plex Sans"/>
                        </a:rPr>
                        <a:t>caudal (mm/h)</a:t>
                      </a:r>
                    </a:p>
                  </a:txBody>
                  <a:tcPr>
                    <a:solidFill>
                      <a:srgbClr val="FFFFFF"/>
                    </a:solidFill>
                  </a:tcPr>
                </a:tc>
              </a:tr>
              <a:tr h="329184">
                <a:tc>
                  <a:txBody>
                    <a:bodyPr/>
                    <a:lstStyle/>
                    <a:p>
                      <a:r>
                        <a:rPr sz="1300">
                          <a:latin typeface="IBM Plex Sans"/>
                        </a:rPr>
                        <a:t>Series</a:t>
                      </a:r>
                    </a:p>
                  </a:txBody>
                  <a:tcPr>
                    <a:solidFill>
                      <a:srgbClr val="ECF0EE"/>
                    </a:solidFill>
                  </a:tcPr>
                </a:tc>
                <a:tc>
                  <a:txBody>
                    <a:bodyPr/>
                    <a:lstStyle/>
                    <a:p>
                      <a:r>
                        <a:rPr sz="1300">
                          <a:latin typeface="IBM Plex Sans"/>
                        </a:rPr>
                        <a:t>1 planta, 5 min</a:t>
                      </a:r>
                    </a:p>
                  </a:txBody>
                  <a:tcPr>
                    <a:solidFill>
                      <a:srgbClr val="ECF0EE"/>
                    </a:solidFill>
                  </a:tcPr>
                </a:tc>
                <a:tc>
                  <a:txBody>
                    <a:bodyPr/>
                    <a:lstStyle/>
                    <a:p>
                      <a:r>
                        <a:rPr sz="1300">
                          <a:latin typeface="IBM Plex Sans"/>
                        </a:rPr>
                        <a:t>508 cuencas, 1 h</a:t>
                      </a:r>
                    </a:p>
                  </a:txBody>
                  <a:tcPr>
                    <a:solidFill>
                      <a:srgbClr val="ECF0EE"/>
                    </a:solidFill>
                  </a:tcPr>
                </a:tc>
              </a:tr>
              <a:tr h="329184">
                <a:tc>
                  <a:txBody>
                    <a:bodyPr/>
                    <a:lstStyle/>
                    <a:p>
                      <a:r>
                        <a:rPr sz="1300">
                          <a:latin typeface="IBM Plex Sans"/>
                        </a:rPr>
                        <a:t>Salida</a:t>
                      </a:r>
                    </a:p>
                  </a:txBody>
                  <a:tcPr>
                    <a:solidFill>
                      <a:srgbClr val="FFFFFF"/>
                    </a:solidFill>
                  </a:tcPr>
                </a:tc>
                <a:tc>
                  <a:txBody>
                    <a:bodyPr/>
                    <a:lstStyle/>
                    <a:p>
                      <a:r>
                        <a:rPr sz="1300">
                          <a:latin typeface="IBM Plex Sans"/>
                        </a:rPr>
                        <a:t>1 nodo, 288 pasos</a:t>
                      </a:r>
                    </a:p>
                  </a:txBody>
                  <a:tcPr>
                    <a:solidFill>
                      <a:srgbClr val="FFFFFF"/>
                    </a:solidFill>
                  </a:tcPr>
                </a:tc>
                <a:tc>
                  <a:txBody>
                    <a:bodyPr/>
                    <a:lstStyle/>
                    <a:p>
                      <a:r>
                        <a:rPr sz="1300">
                          <a:latin typeface="IBM Plex Sans"/>
                        </a:rPr>
                        <a:t>48 nodos, 48 h</a:t>
                      </a:r>
                    </a:p>
                  </a:txBody>
                  <a:tcPr>
                    <a:solidFill>
                      <a:srgbClr val="FFFFFF"/>
                    </a:solidFill>
                  </a:tcPr>
                </a:tc>
              </a:tr>
              <a:tr h="329184">
                <a:tc>
                  <a:txBody>
                    <a:bodyPr/>
                    <a:lstStyle/>
                    <a:p>
                      <a:r>
                        <a:rPr sz="1300">
                          <a:latin typeface="IBM Plex Sans"/>
                        </a:rPr>
                        <a:t>Entrada</a:t>
                      </a:r>
                    </a:p>
                  </a:txBody>
                  <a:tcPr>
                    <a:solidFill>
                      <a:srgbClr val="ECF0EE"/>
                    </a:solidFill>
                  </a:tcPr>
                </a:tc>
                <a:tc>
                  <a:txBody>
                    <a:bodyPr/>
                    <a:lstStyle/>
                    <a:p>
                      <a:r>
                        <a:rPr sz="1300">
                          <a:latin typeface="IBM Plex Sans"/>
                        </a:rPr>
                        <a:t>largo 2</a:t>
                      </a:r>
                    </a:p>
                  </a:txBody>
                  <a:tcPr>
                    <a:solidFill>
                      <a:srgbClr val="ECF0EE"/>
                    </a:solidFill>
                  </a:tcPr>
                </a:tc>
                <a:tc>
                  <a:txBody>
                    <a:bodyPr/>
                    <a:lstStyle/>
                    <a:p>
                      <a:r>
                        <a:rPr sz="1300">
                          <a:latin typeface="IBM Plex Sans"/>
                        </a:rPr>
                        <a:t>barrido 2–336; principal L = 72</a:t>
                      </a:r>
                    </a:p>
                  </a:txBody>
                  <a:tcPr>
                    <a:solidFill>
                      <a:srgbClr val="ECF0EE"/>
                    </a:solidFill>
                  </a:tcPr>
                </a:tc>
              </a:tr>
              <a:tr h="329184">
                <a:tc>
                  <a:txBody>
                    <a:bodyPr/>
                    <a:lstStyle/>
                    <a:p>
                      <a:r>
                        <a:rPr sz="1300">
                          <a:latin typeface="IBM Plex Sans"/>
                        </a:rPr>
                        <a:t>Test</a:t>
                      </a:r>
                    </a:p>
                  </a:txBody>
                  <a:tcPr>
                    <a:solidFill>
                      <a:srgbClr val="FFFFFF"/>
                    </a:solidFill>
                  </a:tcPr>
                </a:tc>
                <a:tc>
                  <a:txBody>
                    <a:bodyPr/>
                    <a:lstStyle/>
                    <a:p>
                      <a:r>
                        <a:rPr sz="1300">
                          <a:latin typeface="IBM Plex Sans"/>
                        </a:rPr>
                        <a:t>1 día por estación</a:t>
                      </a:r>
                    </a:p>
                  </a:txBody>
                  <a:tcPr>
                    <a:solidFill>
                      <a:srgbClr val="FFFFFF"/>
                    </a:solidFill>
                  </a:tcPr>
                </a:tc>
                <a:tc>
                  <a:txBody>
                    <a:bodyPr/>
                    <a:lstStyle/>
                    <a:p>
                      <a:r>
                        <a:rPr sz="1300">
                          <a:latin typeface="IBM Plex Sans"/>
                        </a:rPr>
                        <a:t>27 983 ventanas</a:t>
                      </a:r>
                    </a:p>
                  </a:txBody>
                  <a:tcPr>
                    <a:solidFill>
                      <a:srgbClr val="FFFFFF"/>
                    </a:solidFill>
                  </a:tcPr>
                </a:tc>
              </a:tr>
            </a:tbl>
          </a:graphicData>
        </a:graphic>
      </p:graphicFrame>
      <p:sp>
        <p:nvSpPr>
          <p:cNvPr id="6" name="TextBox 5"/>
          <p:cNvSpPr txBox="1"/>
          <p:nvPr/>
        </p:nvSpPr>
        <p:spPr>
          <a:xfrm>
            <a:off x="640080" y="3621024"/>
            <a:ext cx="10908792" cy="822960"/>
          </a:xfrm>
          <a:prstGeom prst="rect">
            <a:avLst/>
          </a:prstGeom>
          <a:noFill/>
        </p:spPr>
        <p:txBody>
          <a:bodyPr wrap="square">
            <a:spAutoFit/>
          </a:bodyPr>
          <a:lstStyle/>
          <a:p>
            <a:r>
              <a:rPr sz="1700" b="0">
                <a:solidFill>
                  <a:srgbClr val="4A5568"/>
                </a:solidFill>
                <a:latin typeface="IBM Plex Sans"/>
              </a:rPr>
              <a:t>Min-max [0, 1] con estadísticos de train, como el paper. No hay faltantes: la interpolación del paper no aplica.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IMPLEMENTACIÓN</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La arquitectura implementada</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9</a:t>
            </a:r>
          </a:p>
        </p:txBody>
      </p:sp>
      <p:sp>
        <p:nvSpPr>
          <p:cNvPr id="5" name="Rounded Rectangle 4"/>
          <p:cNvSpPr/>
          <p:nvPr/>
        </p:nvSpPr>
        <p:spPr>
          <a:xfrm>
            <a:off x="640080" y="1417320"/>
            <a:ext cx="1627632" cy="1005840"/>
          </a:xfrm>
          <a:prstGeom prst="roundRect">
            <a:avLst/>
          </a:prstGeom>
          <a:solidFill>
            <a:srgbClr val="FFFFFF"/>
          </a:solidFill>
          <a:ln>
            <a:solidFill>
              <a:srgbClr val="D5DBD6"/>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a:solidFill>
                  <a:srgbClr val="1F2933"/>
                </a:solidFill>
                <a:latin typeface="IBM Plex Sans"/>
              </a:rPr>
              <a:t>x (L × 12)</a:t>
            </a:r>
          </a:p>
        </p:txBody>
      </p:sp>
      <p:sp>
        <p:nvSpPr>
          <p:cNvPr id="6" name="Right Arrow 5"/>
          <p:cNvSpPr/>
          <p:nvPr/>
        </p:nvSpPr>
        <p:spPr>
          <a:xfrm>
            <a:off x="2295144" y="1828800"/>
            <a:ext cx="173736" cy="182880"/>
          </a:xfrm>
          <a:prstGeom prst="rightArrow">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496312" y="1417320"/>
            <a:ext cx="1627632" cy="1005840"/>
          </a:xfrm>
          <a:prstGeom prst="roundRect">
            <a:avLst/>
          </a:prstGeom>
          <a:solidFill>
            <a:srgbClr val="FFFFFF"/>
          </a:solidFill>
          <a:ln>
            <a:solidFill>
              <a:srgbClr val="D5DBD6"/>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a:solidFill>
                  <a:srgbClr val="1F2933"/>
                </a:solidFill>
                <a:latin typeface="IBM Plex Sans"/>
              </a:rPr>
              <a:t>+ h(t) recurrente</a:t>
            </a:r>
          </a:p>
        </p:txBody>
      </p:sp>
      <p:sp>
        <p:nvSpPr>
          <p:cNvPr id="8" name="Right Arrow 7"/>
          <p:cNvSpPr/>
          <p:nvPr/>
        </p:nvSpPr>
        <p:spPr>
          <a:xfrm>
            <a:off x="4151376" y="1828800"/>
            <a:ext cx="173736" cy="182880"/>
          </a:xfrm>
          <a:prstGeom prst="rightArrow">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52544" y="1417320"/>
            <a:ext cx="1627632" cy="1005840"/>
          </a:xfrm>
          <a:prstGeom prst="roundRect">
            <a:avLst/>
          </a:prstGeom>
          <a:solidFill>
            <a:srgbClr val="1B7F8C"/>
          </a:solidFill>
          <a:ln>
            <a:solidFill>
              <a:srgbClr val="D5DBD6"/>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a:solidFill>
                  <a:srgbClr val="F4F6F3"/>
                </a:solidFill>
                <a:latin typeface="IBM Plex Sans"/>
              </a:rPr>
              <a:t>Capa 1 Fourier-KAN 24 → 25</a:t>
            </a:r>
          </a:p>
        </p:txBody>
      </p:sp>
      <p:sp>
        <p:nvSpPr>
          <p:cNvPr id="10" name="Right Arrow 9"/>
          <p:cNvSpPr/>
          <p:nvPr/>
        </p:nvSpPr>
        <p:spPr>
          <a:xfrm>
            <a:off x="6007608" y="1828800"/>
            <a:ext cx="173736" cy="182880"/>
          </a:xfrm>
          <a:prstGeom prst="rightArrow">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08776" y="1417320"/>
            <a:ext cx="1627632" cy="1005840"/>
          </a:xfrm>
          <a:prstGeom prst="roundRect">
            <a:avLst/>
          </a:prstGeom>
          <a:solidFill>
            <a:srgbClr val="FFFFFF"/>
          </a:solidFill>
          <a:ln>
            <a:solidFill>
              <a:srgbClr val="D5DBD6"/>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a:solidFill>
                  <a:srgbClr val="1F2933"/>
                </a:solidFill>
                <a:latin typeface="IBM Plex Sans"/>
              </a:rPr>
              <a:t>+ h(t) recurrente</a:t>
            </a:r>
          </a:p>
        </p:txBody>
      </p:sp>
      <p:sp>
        <p:nvSpPr>
          <p:cNvPr id="12" name="Right Arrow 11"/>
          <p:cNvSpPr/>
          <p:nvPr/>
        </p:nvSpPr>
        <p:spPr>
          <a:xfrm>
            <a:off x="7863840" y="1828800"/>
            <a:ext cx="173736" cy="182880"/>
          </a:xfrm>
          <a:prstGeom prst="rightArrow">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65008" y="1417320"/>
            <a:ext cx="1627632" cy="1005840"/>
          </a:xfrm>
          <a:prstGeom prst="roundRect">
            <a:avLst/>
          </a:prstGeom>
          <a:solidFill>
            <a:srgbClr val="1B7F8C"/>
          </a:solidFill>
          <a:ln>
            <a:solidFill>
              <a:srgbClr val="D5DBD6"/>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a:solidFill>
                  <a:srgbClr val="F4F6F3"/>
                </a:solidFill>
                <a:latin typeface="IBM Plex Sans"/>
              </a:rPr>
              <a:t>Capa 2 Fourier-KAN 50 → 48</a:t>
            </a:r>
          </a:p>
        </p:txBody>
      </p:sp>
      <p:sp>
        <p:nvSpPr>
          <p:cNvPr id="14" name="Right Arrow 13"/>
          <p:cNvSpPr/>
          <p:nvPr/>
        </p:nvSpPr>
        <p:spPr>
          <a:xfrm>
            <a:off x="9720072" y="1828800"/>
            <a:ext cx="173736" cy="182880"/>
          </a:xfrm>
          <a:prstGeom prst="rightArrow">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921240" y="1417320"/>
            <a:ext cx="1627632" cy="1005840"/>
          </a:xfrm>
          <a:prstGeom prst="roundRect">
            <a:avLst/>
          </a:prstGeom>
          <a:solidFill>
            <a:srgbClr val="D96A1F"/>
          </a:solidFill>
          <a:ln>
            <a:solidFill>
              <a:srgbClr val="D5DBD6"/>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a:solidFill>
                  <a:srgbClr val="F4F6F3"/>
                </a:solidFill>
                <a:latin typeface="IBM Plex Sans"/>
              </a:rPr>
              <a:t>ŷ = q(t) + σ_Δ · salida</a:t>
            </a:r>
          </a:p>
        </p:txBody>
      </p:sp>
      <p:sp>
        <p:nvSpPr>
          <p:cNvPr id="16" name="TextBox 15"/>
          <p:cNvSpPr txBox="1"/>
          <p:nvPr/>
        </p:nvSpPr>
        <p:spPr>
          <a:xfrm>
            <a:off x="640080" y="2743200"/>
            <a:ext cx="10908792" cy="1371600"/>
          </a:xfrm>
          <a:prstGeom prst="rect">
            <a:avLst/>
          </a:prstGeom>
          <a:noFill/>
        </p:spPr>
        <p:txBody>
          <a:bodyPr wrap="square">
            <a:spAutoFit/>
          </a:bodyPr>
          <a:lstStyle/>
          <a:p>
            <a:pPr>
              <a:spcAft>
                <a:spcPts val="800"/>
              </a:spcAft>
            </a:pPr>
            <a:r>
              <a:rPr sz="1900">
                <a:solidFill>
                  <a:srgbClr val="1F2933"/>
                </a:solidFill>
                <a:latin typeface="IBM Plex Sans"/>
              </a:rPr>
              <a:t>•  Capas KAN propias (kan_layers.py): Fourier y B-spline con Cox–de Boor, sin librerías.</a:t>
            </a:r>
          </a:p>
          <a:p>
            <a:pPr>
              <a:spcAft>
                <a:spcPts val="800"/>
              </a:spcAft>
            </a:pPr>
            <a:r>
              <a:rPr sz="1900">
                <a:solidFill>
                  <a:srgbClr val="1F2933"/>
                </a:solidFill>
                <a:latin typeface="IBM Plex Sans"/>
              </a:rPr>
              <a:t>•  φ(x, h) = φ_x(x) + φ_h(h): nodos normales y recurrentes en paralelo, como la Fig. 1.</a:t>
            </a:r>
          </a:p>
          <a:p>
            <a:pPr>
              <a:spcAft>
                <a:spcPts val="800"/>
              </a:spcAft>
            </a:pPr>
            <a:r>
              <a:rPr sz="1900">
                <a:solidFill>
                  <a:srgbClr val="1F2933"/>
                </a:solidFill>
                <a:latin typeface="IBM Plex Sans"/>
              </a:rPr>
              <a:t>•  KAN y FKAN (sin recurrencia): ventana aplanada, 12·L entradas y ancho oculto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IMPLEMENTACIÓN</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Problema 1: divergencia al refinar la grilla</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10</a:t>
            </a:r>
          </a:p>
        </p:txBody>
      </p:sp>
      <p:sp>
        <p:nvSpPr>
          <p:cNvPr id="5" name="TextBox 4"/>
          <p:cNvSpPr txBox="1"/>
          <p:nvPr/>
        </p:nvSpPr>
        <p:spPr>
          <a:xfrm>
            <a:off x="640080" y="1417320"/>
            <a:ext cx="5454396" cy="822960"/>
          </a:xfrm>
          <a:prstGeom prst="rect">
            <a:avLst/>
          </a:prstGeom>
          <a:noFill/>
        </p:spPr>
        <p:txBody>
          <a:bodyPr wrap="square">
            <a:spAutoFit/>
          </a:bodyPr>
          <a:lstStyle/>
          <a:p>
            <a:r>
              <a:rPr sz="4000" b="1">
                <a:solidFill>
                  <a:srgbClr val="D96A1F"/>
                </a:solidFill>
                <a:latin typeface="Source Serif 4"/>
              </a:rPr>
              <a:t>0.27 → 3.6</a:t>
            </a:r>
          </a:p>
        </p:txBody>
      </p:sp>
      <p:sp>
        <p:nvSpPr>
          <p:cNvPr id="6" name="TextBox 5"/>
          <p:cNvSpPr txBox="1"/>
          <p:nvPr/>
        </p:nvSpPr>
        <p:spPr>
          <a:xfrm>
            <a:off x="640080" y="2194560"/>
            <a:ext cx="5271516" cy="548640"/>
          </a:xfrm>
          <a:prstGeom prst="rect">
            <a:avLst/>
          </a:prstGeom>
          <a:noFill/>
        </p:spPr>
        <p:txBody>
          <a:bodyPr wrap="square">
            <a:spAutoFit/>
          </a:bodyPr>
          <a:lstStyle/>
          <a:p>
            <a:r>
              <a:rPr sz="1500" b="0">
                <a:solidFill>
                  <a:srgbClr val="4A5568"/>
                </a:solidFill>
                <a:latin typeface="IBM Plex Sans"/>
              </a:rPr>
              <a:t>val RMSE al pasar a grilla 50–100</a:t>
            </a:r>
          </a:p>
        </p:txBody>
      </p:sp>
      <p:sp>
        <p:nvSpPr>
          <p:cNvPr id="7" name="TextBox 6"/>
          <p:cNvSpPr txBox="1"/>
          <p:nvPr/>
        </p:nvSpPr>
        <p:spPr>
          <a:xfrm>
            <a:off x="6094476" y="1417320"/>
            <a:ext cx="5454396" cy="822960"/>
          </a:xfrm>
          <a:prstGeom prst="rect">
            <a:avLst/>
          </a:prstGeom>
          <a:noFill/>
        </p:spPr>
        <p:txBody>
          <a:bodyPr wrap="square">
            <a:spAutoFit/>
          </a:bodyPr>
          <a:lstStyle/>
          <a:p>
            <a:r>
              <a:rPr sz="4000" b="1">
                <a:solidFill>
                  <a:srgbClr val="D96A1F"/>
                </a:solidFill>
                <a:latin typeface="Source Serif 4"/>
              </a:rPr>
              <a:t>σ_Δ = 0.0046</a:t>
            </a:r>
          </a:p>
        </p:txBody>
      </p:sp>
      <p:sp>
        <p:nvSpPr>
          <p:cNvPr id="8" name="TextBox 7"/>
          <p:cNvSpPr txBox="1"/>
          <p:nvPr/>
        </p:nvSpPr>
        <p:spPr>
          <a:xfrm>
            <a:off x="6094476" y="2194560"/>
            <a:ext cx="5271516" cy="548640"/>
          </a:xfrm>
          <a:prstGeom prst="rect">
            <a:avLst/>
          </a:prstGeom>
          <a:noFill/>
        </p:spPr>
        <p:txBody>
          <a:bodyPr wrap="square">
            <a:spAutoFit/>
          </a:bodyPr>
          <a:lstStyle/>
          <a:p>
            <a:r>
              <a:rPr sz="1500" b="0">
                <a:solidFill>
                  <a:srgbClr val="4A5568"/>
                </a:solidFill>
                <a:latin typeface="IBM Plex Sans"/>
              </a:rPr>
              <a:t>cambio típico en 48 h (escala [0, 1])</a:t>
            </a:r>
          </a:p>
        </p:txBody>
      </p:sp>
      <p:sp>
        <p:nvSpPr>
          <p:cNvPr id="9" name="TextBox 8"/>
          <p:cNvSpPr txBox="1"/>
          <p:nvPr/>
        </p:nvSpPr>
        <p:spPr>
          <a:xfrm>
            <a:off x="640080" y="2971800"/>
            <a:ext cx="10908792" cy="1371600"/>
          </a:xfrm>
          <a:prstGeom prst="rect">
            <a:avLst/>
          </a:prstGeom>
          <a:noFill/>
        </p:spPr>
        <p:txBody>
          <a:bodyPr wrap="square">
            <a:spAutoFit/>
          </a:bodyPr>
          <a:lstStyle/>
          <a:p>
            <a:pPr>
              <a:spcAft>
                <a:spcPts val="800"/>
              </a:spcAft>
            </a:pPr>
            <a:r>
              <a:rPr sz="1900">
                <a:solidFill>
                  <a:srgbClr val="1F2933"/>
                </a:solidFill>
                <a:latin typeface="IBM Plex Sans"/>
              </a:rPr>
              <a:t>•  Adam mueve cada armónico nuevo del orden de lr por paso: ruido frente a 0.0046.</a:t>
            </a:r>
          </a:p>
          <a:p>
            <a:pPr>
              <a:spcAft>
                <a:spcPts val="800"/>
              </a:spcAft>
            </a:pPr>
            <a:r>
              <a:rPr sz="1900">
                <a:solidFill>
                  <a:srgbClr val="1F2933"/>
                </a:solidFill>
                <a:latin typeface="IBM Plex Sans"/>
              </a:rPr>
              <a:t>•  Salida residual: ŷ = q(t) + σ_Δ · núcleo(x), igual para todos los modelos neuronales.</a:t>
            </a:r>
          </a:p>
          <a:p>
            <a:pPr>
              <a:spcAft>
                <a:spcPts val="800"/>
              </a:spcAft>
            </a:pPr>
            <a:r>
              <a:rPr sz="1900">
                <a:solidFill>
                  <a:srgbClr val="1F2933"/>
                </a:solidFill>
                <a:latin typeface="IBM Plex Sans"/>
              </a:rPr>
              <a:t>•  lr por etapa ∝ 3/g. Con eso, RFKAN baja de persistencia.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IMPLEMENTACIÓN</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Problema 2: gradientes bajo el ε de Adam</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11</a:t>
            </a:r>
          </a:p>
        </p:txBody>
      </p:sp>
      <p:sp>
        <p:nvSpPr>
          <p:cNvPr id="5" name="TextBox 4"/>
          <p:cNvSpPr txBox="1"/>
          <p:nvPr/>
        </p:nvSpPr>
        <p:spPr>
          <a:xfrm>
            <a:off x="640080" y="1417320"/>
            <a:ext cx="5454396" cy="822960"/>
          </a:xfrm>
          <a:prstGeom prst="rect">
            <a:avLst/>
          </a:prstGeom>
          <a:noFill/>
        </p:spPr>
        <p:txBody>
          <a:bodyPr wrap="square">
            <a:spAutoFit/>
          </a:bodyPr>
          <a:lstStyle/>
          <a:p>
            <a:r>
              <a:rPr sz="4000" b="1">
                <a:solidFill>
                  <a:srgbClr val="D96A1F"/>
                </a:solidFill>
                <a:latin typeface="Source Serif 4"/>
              </a:rPr>
              <a:t>99 %</a:t>
            </a:r>
          </a:p>
        </p:txBody>
      </p:sp>
      <p:sp>
        <p:nvSpPr>
          <p:cNvPr id="6" name="TextBox 5"/>
          <p:cNvSpPr txBox="1"/>
          <p:nvPr/>
        </p:nvSpPr>
        <p:spPr>
          <a:xfrm>
            <a:off x="640080" y="2194560"/>
            <a:ext cx="5271516" cy="548640"/>
          </a:xfrm>
          <a:prstGeom prst="rect">
            <a:avLst/>
          </a:prstGeom>
          <a:noFill/>
        </p:spPr>
        <p:txBody>
          <a:bodyPr wrap="square">
            <a:spAutoFit/>
          </a:bodyPr>
          <a:lstStyle/>
          <a:p>
            <a:r>
              <a:rPr sz="1500" b="0">
                <a:solidFill>
                  <a:srgbClr val="4A5568"/>
                </a:solidFill>
                <a:latin typeface="IBM Plex Sans"/>
              </a:rPr>
              <a:t>de los gradientes de LSTM, GRU y TCN &lt; 10⁻⁸</a:t>
            </a:r>
          </a:p>
        </p:txBody>
      </p:sp>
      <p:sp>
        <p:nvSpPr>
          <p:cNvPr id="7" name="TextBox 6"/>
          <p:cNvSpPr txBox="1"/>
          <p:nvPr/>
        </p:nvSpPr>
        <p:spPr>
          <a:xfrm>
            <a:off x="6094476" y="1417320"/>
            <a:ext cx="5454396" cy="822960"/>
          </a:xfrm>
          <a:prstGeom prst="rect">
            <a:avLst/>
          </a:prstGeom>
          <a:noFill/>
        </p:spPr>
        <p:txBody>
          <a:bodyPr wrap="square">
            <a:spAutoFit/>
          </a:bodyPr>
          <a:lstStyle/>
          <a:p>
            <a:r>
              <a:rPr sz="4000" b="1">
                <a:solidFill>
                  <a:srgbClr val="D96A1F"/>
                </a:solidFill>
                <a:latin typeface="Source Serif 4"/>
              </a:rPr>
              <a:t>2.5·10⁻⁵</a:t>
            </a:r>
          </a:p>
        </p:txBody>
      </p:sp>
      <p:sp>
        <p:nvSpPr>
          <p:cNvPr id="8" name="TextBox 7"/>
          <p:cNvSpPr txBox="1"/>
          <p:nvPr/>
        </p:nvSpPr>
        <p:spPr>
          <a:xfrm>
            <a:off x="6094476" y="2194560"/>
            <a:ext cx="5271516" cy="548640"/>
          </a:xfrm>
          <a:prstGeom prst="rect">
            <a:avLst/>
          </a:prstGeom>
          <a:noFill/>
        </p:spPr>
        <p:txBody>
          <a:bodyPr wrap="square">
            <a:spAutoFit/>
          </a:bodyPr>
          <a:lstStyle/>
          <a:p>
            <a:r>
              <a:rPr sz="1500" b="0">
                <a:solidFill>
                  <a:srgbClr val="4A5568"/>
                </a:solidFill>
                <a:latin typeface="IBM Plex Sans"/>
              </a:rPr>
              <a:t>valor de la MSE normalizada</a:t>
            </a:r>
          </a:p>
        </p:txBody>
      </p:sp>
      <p:sp>
        <p:nvSpPr>
          <p:cNvPr id="9" name="TextBox 8"/>
          <p:cNvSpPr txBox="1"/>
          <p:nvPr/>
        </p:nvSpPr>
        <p:spPr>
          <a:xfrm>
            <a:off x="640080" y="2971800"/>
            <a:ext cx="10908792" cy="1371600"/>
          </a:xfrm>
          <a:prstGeom prst="rect">
            <a:avLst/>
          </a:prstGeom>
          <a:noFill/>
        </p:spPr>
        <p:txBody>
          <a:bodyPr wrap="square">
            <a:spAutoFit/>
          </a:bodyPr>
          <a:lstStyle/>
          <a:p>
            <a:pPr>
              <a:spcAft>
                <a:spcPts val="800"/>
              </a:spcAft>
            </a:pPr>
            <a:r>
              <a:rPr sz="1900">
                <a:solidFill>
                  <a:srgbClr val="1F2933"/>
                </a:solidFill>
                <a:latin typeface="IBM Plex Sans"/>
              </a:rPr>
              <a:t>•  El LSTM terminaba exactamente en persistencia.</a:t>
            </a:r>
          </a:p>
          <a:p>
            <a:pPr>
              <a:spcAft>
                <a:spcPts val="800"/>
              </a:spcAft>
            </a:pPr>
            <a:r>
              <a:rPr sz="1900">
                <a:solidFill>
                  <a:srgbClr val="1F2933"/>
                </a:solidFill>
                <a:latin typeface="IBM Plex Sans"/>
              </a:rPr>
              <a:t>•  Pérdida = MSE / σ_Δ²: mismo óptimo, gradientes en escala útil.</a:t>
            </a:r>
          </a:p>
          <a:p>
            <a:pPr>
              <a:spcAft>
                <a:spcPts val="800"/>
              </a:spcAft>
            </a:pPr>
            <a:r>
              <a:rPr sz="1900">
                <a:solidFill>
                  <a:srgbClr val="1F2933"/>
                </a:solidFill>
                <a:latin typeface="IBM Plex Sans"/>
              </a:rPr>
              <a:t>•  Además, LSTM, GRU y TCN usan la misma ventana L = 72 que RFKAN: con 336 pasos, el LSTM no aprende en 18 épocas.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IMPLEMENTACIÓN</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Experimentos: mismo split, semilla y presupuesto</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12</a:t>
            </a:r>
          </a:p>
        </p:txBody>
      </p:sp>
      <p:graphicFrame>
        <p:nvGraphicFramePr>
          <p:cNvPr id="5" name="Table 4"/>
          <p:cNvGraphicFramePr>
            <a:graphicFrameLocks noGrp="1"/>
          </p:cNvGraphicFramePr>
          <p:nvPr/>
        </p:nvGraphicFramePr>
        <p:xfrm>
          <a:off x="640080" y="1417320"/>
          <a:ext cx="10908792" cy="2304288"/>
        </p:xfrm>
        <a:graphic>
          <a:graphicData uri="http://schemas.openxmlformats.org/drawingml/2006/table">
            <a:tbl>
              <a:tblPr firstRow="1" bandRow="1">
                <a:tableStyleId>{5C22544A-7EE6-4342-B048-85BDC9FD1C3A}</a:tableStyleId>
              </a:tblPr>
              <a:tblGrid>
                <a:gridCol w="3636264"/>
                <a:gridCol w="3636264"/>
                <a:gridCol w="3636264"/>
              </a:tblGrid>
              <a:tr h="329184">
                <a:tc>
                  <a:txBody>
                    <a:bodyPr/>
                    <a:lstStyle/>
                    <a:p>
                      <a:r>
                        <a:rPr sz="1300" b="1">
                          <a:solidFill>
                            <a:srgbClr val="F4F6F3"/>
                          </a:solidFill>
                          <a:latin typeface="IBM Plex Sans"/>
                        </a:rPr>
                        <a:t>Suite</a:t>
                      </a:r>
                    </a:p>
                  </a:txBody>
                  <a:tcPr>
                    <a:solidFill>
                      <a:srgbClr val="14213D"/>
                    </a:solidFill>
                  </a:tcPr>
                </a:tc>
                <a:tc>
                  <a:txBody>
                    <a:bodyPr/>
                    <a:lstStyle/>
                    <a:p>
                      <a:r>
                        <a:rPr sz="1300" b="1">
                          <a:solidFill>
                            <a:srgbClr val="F4F6F3"/>
                          </a:solidFill>
                          <a:latin typeface="IBM Plex Sans"/>
                        </a:rPr>
                        <a:t>Qué varía</a:t>
                      </a:r>
                    </a:p>
                  </a:txBody>
                  <a:tcPr>
                    <a:solidFill>
                      <a:srgbClr val="14213D"/>
                    </a:solidFill>
                  </a:tcPr>
                </a:tc>
                <a:tc>
                  <a:txBody>
                    <a:bodyPr/>
                    <a:lstStyle/>
                    <a:p>
                      <a:r>
                        <a:rPr sz="1300" b="1">
                          <a:solidFill>
                            <a:srgbClr val="F4F6F3"/>
                          </a:solidFill>
                          <a:latin typeface="IBM Plex Sans"/>
                        </a:rPr>
                        <a:t>Análogo</a:t>
                      </a:r>
                    </a:p>
                  </a:txBody>
                  <a:tcPr>
                    <a:solidFill>
                      <a:srgbClr val="14213D"/>
                    </a:solidFill>
                  </a:tcPr>
                </a:tc>
              </a:tr>
              <a:tr h="329184">
                <a:tc>
                  <a:txBody>
                    <a:bodyPr/>
                    <a:lstStyle/>
                    <a:p>
                      <a:r>
                        <a:rPr sz="1300">
                          <a:latin typeface="IBM Plex Sans"/>
                        </a:rPr>
                        <a:t>seqlen</a:t>
                      </a:r>
                    </a:p>
                  </a:txBody>
                  <a:tcPr>
                    <a:solidFill>
                      <a:srgbClr val="FFFFFF"/>
                    </a:solidFill>
                  </a:tcPr>
                </a:tc>
                <a:tc>
                  <a:txBody>
                    <a:bodyPr/>
                    <a:lstStyle/>
                    <a:p>
                      <a:r>
                        <a:rPr sz="1300">
                          <a:latin typeface="IBM Plex Sans"/>
                        </a:rPr>
                        <a:t>KAN / RKAN / FKAN / RFKAN × L ∈ {2, 12, 24, 72, 168, 336}</a:t>
                      </a:r>
                    </a:p>
                  </a:txBody>
                  <a:tcPr>
                    <a:solidFill>
                      <a:srgbClr val="FFFFFF"/>
                    </a:solidFill>
                  </a:tcPr>
                </a:tc>
                <a:tc>
                  <a:txBody>
                    <a:bodyPr/>
                    <a:lstStyle/>
                    <a:p>
                      <a:r>
                        <a:rPr sz="1300">
                          <a:latin typeface="IBM Plex Sans"/>
                        </a:rPr>
                        <a:t>Tabla 3 + Fig. 5</a:t>
                      </a:r>
                    </a:p>
                  </a:txBody>
                  <a:tcPr>
                    <a:solidFill>
                      <a:srgbClr val="FFFFFF"/>
                    </a:solidFill>
                  </a:tcPr>
                </a:tc>
              </a:tr>
              <a:tr h="329184">
                <a:tc>
                  <a:txBody>
                    <a:bodyPr/>
                    <a:lstStyle/>
                    <a:p>
                      <a:r>
                        <a:rPr sz="1300">
                          <a:latin typeface="IBM Plex Sans"/>
                        </a:rPr>
                        <a:t>seqlen_base</a:t>
                      </a:r>
                    </a:p>
                  </a:txBody>
                  <a:tcPr>
                    <a:solidFill>
                      <a:srgbClr val="ECF0EE"/>
                    </a:solidFill>
                  </a:tcPr>
                </a:tc>
                <a:tc>
                  <a:txBody>
                    <a:bodyPr/>
                    <a:lstStyle/>
                    <a:p>
                      <a:r>
                        <a:rPr sz="1300">
                          <a:latin typeface="IBM Plex Sans"/>
                        </a:rPr>
                        <a:t>LSTM / GRU / TCN × L ∈ {2, 12, 24, 168}</a:t>
                      </a:r>
                    </a:p>
                  </a:txBody>
                  <a:tcPr>
                    <a:solidFill>
                      <a:srgbClr val="ECF0EE"/>
                    </a:solidFill>
                  </a:tcPr>
                </a:tc>
                <a:tc>
                  <a:txBody>
                    <a:bodyPr/>
                    <a:lstStyle/>
                    <a:p>
                      <a:r>
                        <a:rPr sz="1300">
                          <a:latin typeface="IBM Plex Sans"/>
                        </a:rPr>
                        <a:t>Fig. 5</a:t>
                      </a:r>
                    </a:p>
                  </a:txBody>
                  <a:tcPr>
                    <a:solidFill>
                      <a:srgbClr val="ECF0EE"/>
                    </a:solidFill>
                  </a:tcPr>
                </a:tc>
              </a:tr>
              <a:tr h="329184">
                <a:tc>
                  <a:txBody>
                    <a:bodyPr/>
                    <a:lstStyle/>
                    <a:p>
                      <a:r>
                        <a:rPr sz="1300">
                          <a:latin typeface="IBM Plex Sans"/>
                        </a:rPr>
                        <a:t>grid</a:t>
                      </a:r>
                    </a:p>
                  </a:txBody>
                  <a:tcPr>
                    <a:solidFill>
                      <a:srgbClr val="FFFFFF"/>
                    </a:solidFill>
                  </a:tcPr>
                </a:tc>
                <a:tc>
                  <a:txBody>
                    <a:bodyPr/>
                    <a:lstStyle/>
                    <a:p>
                      <a:r>
                        <a:rPr sz="1300">
                          <a:latin typeface="IBM Plex Sans"/>
                        </a:rPr>
                        <a:t>grilla hasta 200, fija 3, fija 100, sin reducir el lr</a:t>
                      </a:r>
                    </a:p>
                  </a:txBody>
                  <a:tcPr>
                    <a:solidFill>
                      <a:srgbClr val="FFFFFF"/>
                    </a:solidFill>
                  </a:tcPr>
                </a:tc>
                <a:tc>
                  <a:txBody>
                    <a:bodyPr/>
                    <a:lstStyle/>
                    <a:p>
                      <a:r>
                        <a:rPr sz="1300">
                          <a:latin typeface="IBM Plex Sans"/>
                        </a:rPr>
                        <a:t>Fig. 4</a:t>
                      </a:r>
                    </a:p>
                  </a:txBody>
                  <a:tcPr>
                    <a:solidFill>
                      <a:srgbClr val="FFFFFF"/>
                    </a:solidFill>
                  </a:tcPr>
                </a:tc>
              </a:tr>
              <a:tr h="329184">
                <a:tc>
                  <a:txBody>
                    <a:bodyPr/>
                    <a:lstStyle/>
                    <a:p>
                      <a:r>
                        <a:rPr sz="1300">
                          <a:latin typeface="IBM Plex Sans"/>
                        </a:rPr>
                        <a:t>baselines</a:t>
                      </a:r>
                    </a:p>
                  </a:txBody>
                  <a:tcPr>
                    <a:solidFill>
                      <a:srgbClr val="ECF0EE"/>
                    </a:solidFill>
                  </a:tcPr>
                </a:tc>
                <a:tc>
                  <a:txBody>
                    <a:bodyPr/>
                    <a:lstStyle/>
                    <a:p>
                      <a:r>
                        <a:rPr sz="1300">
                          <a:latin typeface="IBM Plex Sans"/>
                        </a:rPr>
                        <a:t>persistencia, ARIMA, SVR, ELM, LSTM, GRU, TCN</a:t>
                      </a:r>
                    </a:p>
                  </a:txBody>
                  <a:tcPr>
                    <a:solidFill>
                      <a:srgbClr val="ECF0EE"/>
                    </a:solidFill>
                  </a:tcPr>
                </a:tc>
                <a:tc>
                  <a:txBody>
                    <a:bodyPr/>
                    <a:lstStyle/>
                    <a:p>
                      <a:r>
                        <a:rPr sz="1300">
                          <a:latin typeface="IBM Plex Sans"/>
                        </a:rPr>
                        <a:t>Tablas 5–6</a:t>
                      </a:r>
                    </a:p>
                  </a:txBody>
                  <a:tcPr>
                    <a:solidFill>
                      <a:srgbClr val="ECF0EE"/>
                    </a:solidFill>
                  </a:tcPr>
                </a:tc>
              </a:tr>
              <a:tr h="329184">
                <a:tc>
                  <a:txBody>
                    <a:bodyPr/>
                    <a:lstStyle/>
                    <a:p>
                      <a:r>
                        <a:rPr sz="1300">
                          <a:latin typeface="IBM Plex Sans"/>
                        </a:rPr>
                        <a:t>advanced</a:t>
                      </a:r>
                    </a:p>
                  </a:txBody>
                  <a:tcPr>
                    <a:solidFill>
                      <a:srgbClr val="FFFFFF"/>
                    </a:solidFill>
                  </a:tcPr>
                </a:tc>
                <a:tc>
                  <a:txBody>
                    <a:bodyPr/>
                    <a:lstStyle/>
                    <a:p>
                      <a:r>
                        <a:rPr sz="1300">
                          <a:latin typeface="IBM Plex Sans"/>
                        </a:rPr>
                        <a:t>Informer, WVS, TACDPG (propios)</a:t>
                      </a:r>
                    </a:p>
                  </a:txBody>
                  <a:tcPr>
                    <a:solidFill>
                      <a:srgbClr val="FFFFFF"/>
                    </a:solidFill>
                  </a:tcPr>
                </a:tc>
                <a:tc>
                  <a:txBody>
                    <a:bodyPr/>
                    <a:lstStyle/>
                    <a:p>
                      <a:r>
                        <a:rPr sz="1300">
                          <a:latin typeface="IBM Plex Sans"/>
                        </a:rPr>
                        <a:t>Tabla 7</a:t>
                      </a:r>
                    </a:p>
                  </a:txBody>
                  <a:tcPr>
                    <a:solidFill>
                      <a:srgbClr val="FFFFFF"/>
                    </a:solidFill>
                  </a:tcPr>
                </a:tc>
              </a:tr>
              <a:tr h="329184">
                <a:tc>
                  <a:txBody>
                    <a:bodyPr/>
                    <a:lstStyle/>
                    <a:p>
                      <a:r>
                        <a:rPr sz="1300">
                          <a:latin typeface="IBM Plex Sans"/>
                        </a:rPr>
                        <a:t>seeds</a:t>
                      </a:r>
                    </a:p>
                  </a:txBody>
                  <a:tcPr>
                    <a:solidFill>
                      <a:srgbClr val="ECF0EE"/>
                    </a:solidFill>
                  </a:tcPr>
                </a:tc>
                <a:tc>
                  <a:txBody>
                    <a:bodyPr/>
                    <a:lstStyle/>
                    <a:p>
                      <a:r>
                        <a:rPr sz="1300">
                          <a:latin typeface="IBM Plex Sans"/>
                        </a:rPr>
                        <a:t>RFKAN y LSTM × 3 semillas</a:t>
                      </a:r>
                    </a:p>
                  </a:txBody>
                  <a:tcPr>
                    <a:solidFill>
                      <a:srgbClr val="ECF0EE"/>
                    </a:solidFill>
                  </a:tcPr>
                </a:tc>
                <a:tc>
                  <a:txBody>
                    <a:bodyPr/>
                    <a:lstStyle/>
                    <a:p>
                      <a:r>
                        <a:rPr sz="1300">
                          <a:latin typeface="IBM Plex Sans"/>
                        </a:rPr>
                        <a:t>—</a:t>
                      </a:r>
                    </a:p>
                  </a:txBody>
                  <a:tcPr>
                    <a:solidFill>
                      <a:srgbClr val="ECF0EE"/>
                    </a:solidFill>
                  </a:tcPr>
                </a:tc>
              </a:tr>
            </a:tbl>
          </a:graphicData>
        </a:graphic>
      </p:graphicFrame>
      <p:sp>
        <p:nvSpPr>
          <p:cNvPr id="6" name="TextBox 5"/>
          <p:cNvSpPr txBox="1"/>
          <p:nvPr/>
        </p:nvSpPr>
        <p:spPr>
          <a:xfrm>
            <a:off x="640080" y="3950208"/>
            <a:ext cx="10908792" cy="822960"/>
          </a:xfrm>
          <a:prstGeom prst="rect">
            <a:avLst/>
          </a:prstGeom>
          <a:noFill/>
        </p:spPr>
        <p:txBody>
          <a:bodyPr wrap="square">
            <a:spAutoFit/>
          </a:bodyPr>
          <a:lstStyle/>
          <a:p>
            <a:r>
              <a:rPr sz="1700" b="0">
                <a:solidFill>
                  <a:srgbClr val="4A5568"/>
                </a:solidFill>
                <a:latin typeface="IBM Plex Sans"/>
              </a:rPr>
              <a:t>18 épocas por brazo (3 por grilla). Todo el detalle de cada brazo queda en un .pkl: historial, predicciones de val y test, métricas por horizonte y por cuenca.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RESULTADOS</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Ablación: la recurrencia decide (L = 72)</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13</a:t>
            </a:r>
          </a:p>
        </p:txBody>
      </p:sp>
      <p:graphicFrame>
        <p:nvGraphicFramePr>
          <p:cNvPr id="5" name="Table 4"/>
          <p:cNvGraphicFramePr>
            <a:graphicFrameLocks noGrp="1"/>
          </p:cNvGraphicFramePr>
          <p:nvPr/>
        </p:nvGraphicFramePr>
        <p:xfrm>
          <a:off x="640080" y="1417320"/>
          <a:ext cx="10908792" cy="1975104"/>
        </p:xfrm>
        <a:graphic>
          <a:graphicData uri="http://schemas.openxmlformats.org/drawingml/2006/table">
            <a:tbl>
              <a:tblPr firstRow="1" bandRow="1">
                <a:tableStyleId>{5C22544A-7EE6-4342-B048-85BDC9FD1C3A}</a:tableStyleId>
              </a:tblPr>
              <a:tblGrid>
                <a:gridCol w="1818132"/>
                <a:gridCol w="1818132"/>
                <a:gridCol w="1818132"/>
                <a:gridCol w="1818132"/>
                <a:gridCol w="1818132"/>
                <a:gridCol w="1818132"/>
              </a:tblGrid>
              <a:tr h="329184">
                <a:tc>
                  <a:txBody>
                    <a:bodyPr/>
                    <a:lstStyle/>
                    <a:p>
                      <a:r>
                        <a:rPr sz="1300" b="1">
                          <a:solidFill>
                            <a:srgbClr val="F4F6F3"/>
                          </a:solidFill>
                          <a:latin typeface="IBM Plex Sans"/>
                        </a:rPr>
                        <a:t>Modelo</a:t>
                      </a:r>
                    </a:p>
                  </a:txBody>
                  <a:tcPr>
                    <a:solidFill>
                      <a:srgbClr val="14213D"/>
                    </a:solidFill>
                  </a:tcPr>
                </a:tc>
                <a:tc>
                  <a:txBody>
                    <a:bodyPr/>
                    <a:lstStyle/>
                    <a:p>
                      <a:r>
                        <a:rPr sz="1300" b="1">
                          <a:solidFill>
                            <a:srgbClr val="F4F6F3"/>
                          </a:solidFill>
                          <a:latin typeface="IBM Plex Sans"/>
                        </a:rPr>
                        <a:t>RMSE val</a:t>
                      </a:r>
                    </a:p>
                  </a:txBody>
                  <a:tcPr>
                    <a:solidFill>
                      <a:srgbClr val="14213D"/>
                    </a:solidFill>
                  </a:tcPr>
                </a:tc>
                <a:tc>
                  <a:txBody>
                    <a:bodyPr/>
                    <a:lstStyle/>
                    <a:p>
                      <a:r>
                        <a:rPr sz="1300" b="1">
                          <a:solidFill>
                            <a:srgbClr val="F4F6F3"/>
                          </a:solidFill>
                          <a:latin typeface="IBM Plex Sans"/>
                        </a:rPr>
                        <a:t>RMSE test</a:t>
                      </a:r>
                    </a:p>
                  </a:txBody>
                  <a:tcPr>
                    <a:solidFill>
                      <a:srgbClr val="14213D"/>
                    </a:solidFill>
                  </a:tcPr>
                </a:tc>
                <a:tc>
                  <a:txBody>
                    <a:bodyPr/>
                    <a:lstStyle/>
                    <a:p>
                      <a:r>
                        <a:rPr sz="1300" b="1">
                          <a:solidFill>
                            <a:srgbClr val="F4F6F3"/>
                          </a:solidFill>
                          <a:latin typeface="IBM Plex Sans"/>
                        </a:rPr>
                        <a:t>CORR test</a:t>
                      </a:r>
                    </a:p>
                  </a:txBody>
                  <a:tcPr>
                    <a:solidFill>
                      <a:srgbClr val="14213D"/>
                    </a:solidFill>
                  </a:tcPr>
                </a:tc>
                <a:tc>
                  <a:txBody>
                    <a:bodyPr/>
                    <a:lstStyle/>
                    <a:p>
                      <a:r>
                        <a:rPr sz="1300" b="1">
                          <a:solidFill>
                            <a:srgbClr val="F4F6F3"/>
                          </a:solidFill>
                          <a:latin typeface="IBM Plex Sans"/>
                        </a:rPr>
                        <a:t>NSE med.</a:t>
                      </a:r>
                    </a:p>
                  </a:txBody>
                  <a:tcPr>
                    <a:solidFill>
                      <a:srgbClr val="14213D"/>
                    </a:solidFill>
                  </a:tcPr>
                </a:tc>
                <a:tc>
                  <a:txBody>
                    <a:bodyPr/>
                    <a:lstStyle/>
                    <a:p>
                      <a:r>
                        <a:rPr sz="1300" b="1">
                          <a:solidFill>
                            <a:srgbClr val="F4F6F3"/>
                          </a:solidFill>
                          <a:latin typeface="IBM Plex Sans"/>
                        </a:rPr>
                        <a:t>Tiempo (s)</a:t>
                      </a:r>
                    </a:p>
                  </a:txBody>
                  <a:tcPr>
                    <a:solidFill>
                      <a:srgbClr val="14213D"/>
                    </a:solidFill>
                  </a:tcPr>
                </a:tc>
              </a:tr>
              <a:tr h="329184">
                <a:tc>
                  <a:txBody>
                    <a:bodyPr/>
                    <a:lstStyle/>
                    <a:p>
                      <a:r>
                        <a:rPr sz="1300">
                          <a:latin typeface="IBM Plex Sans"/>
                        </a:rPr>
                        <a:t>KAN</a:t>
                      </a:r>
                    </a:p>
                  </a:txBody>
                  <a:tcPr>
                    <a:solidFill>
                      <a:srgbClr val="FFFFFF"/>
                    </a:solidFill>
                  </a:tcPr>
                </a:tc>
                <a:tc>
                  <a:txBody>
                    <a:bodyPr/>
                    <a:lstStyle/>
                    <a:p>
                      <a:r>
                        <a:rPr sz="1300">
                          <a:latin typeface="IBM Plex Sans"/>
                        </a:rPr>
                        <a:t>0.1206</a:t>
                      </a:r>
                    </a:p>
                  </a:txBody>
                  <a:tcPr>
                    <a:solidFill>
                      <a:srgbClr val="FFFFFF"/>
                    </a:solidFill>
                  </a:tcPr>
                </a:tc>
                <a:tc>
                  <a:txBody>
                    <a:bodyPr/>
                    <a:lstStyle/>
                    <a:p>
                      <a:r>
                        <a:rPr sz="1300">
                          <a:latin typeface="IBM Plex Sans"/>
                        </a:rPr>
                        <a:t>0.1100</a:t>
                      </a:r>
                    </a:p>
                  </a:txBody>
                  <a:tcPr>
                    <a:solidFill>
                      <a:srgbClr val="FFFFFF"/>
                    </a:solidFill>
                  </a:tcPr>
                </a:tc>
                <a:tc>
                  <a:txBody>
                    <a:bodyPr/>
                    <a:lstStyle/>
                    <a:p>
                      <a:r>
                        <a:rPr sz="1300">
                          <a:latin typeface="IBM Plex Sans"/>
                        </a:rPr>
                        <a:t>0.567</a:t>
                      </a:r>
                    </a:p>
                  </a:txBody>
                  <a:tcPr>
                    <a:solidFill>
                      <a:srgbClr val="FFFFFF"/>
                    </a:solidFill>
                  </a:tcPr>
                </a:tc>
                <a:tc>
                  <a:txBody>
                    <a:bodyPr/>
                    <a:lstStyle/>
                    <a:p>
                      <a:r>
                        <a:rPr sz="1300">
                          <a:latin typeface="IBM Plex Sans"/>
                        </a:rPr>
                        <a:t>0.318</a:t>
                      </a:r>
                    </a:p>
                  </a:txBody>
                  <a:tcPr>
                    <a:solidFill>
                      <a:srgbClr val="FFFFFF"/>
                    </a:solidFill>
                  </a:tcPr>
                </a:tc>
                <a:tc>
                  <a:txBody>
                    <a:bodyPr/>
                    <a:lstStyle/>
                    <a:p>
                      <a:r>
                        <a:rPr sz="1300">
                          <a:latin typeface="IBM Plex Sans"/>
                        </a:rPr>
                        <a:t>88</a:t>
                      </a:r>
                    </a:p>
                  </a:txBody>
                  <a:tcPr>
                    <a:solidFill>
                      <a:srgbClr val="FFFFFF"/>
                    </a:solidFill>
                  </a:tcPr>
                </a:tc>
              </a:tr>
              <a:tr h="329184">
                <a:tc>
                  <a:txBody>
                    <a:bodyPr/>
                    <a:lstStyle/>
                    <a:p>
                      <a:r>
                        <a:rPr sz="1300">
                          <a:latin typeface="IBM Plex Sans"/>
                        </a:rPr>
                        <a:t>RKAN</a:t>
                      </a:r>
                    </a:p>
                  </a:txBody>
                  <a:tcPr>
                    <a:solidFill>
                      <a:srgbClr val="ECF0EE"/>
                    </a:solidFill>
                  </a:tcPr>
                </a:tc>
                <a:tc>
                  <a:txBody>
                    <a:bodyPr/>
                    <a:lstStyle/>
                    <a:p>
                      <a:r>
                        <a:rPr sz="1300">
                          <a:latin typeface="IBM Plex Sans"/>
                        </a:rPr>
                        <a:t>0.1048</a:t>
                      </a:r>
                    </a:p>
                  </a:txBody>
                  <a:tcPr>
                    <a:solidFill>
                      <a:srgbClr val="ECF0EE"/>
                    </a:solidFill>
                  </a:tcPr>
                </a:tc>
                <a:tc>
                  <a:txBody>
                    <a:bodyPr/>
                    <a:lstStyle/>
                    <a:p>
                      <a:r>
                        <a:rPr sz="1300">
                          <a:latin typeface="IBM Plex Sans"/>
                        </a:rPr>
                        <a:t>0.1033</a:t>
                      </a:r>
                    </a:p>
                  </a:txBody>
                  <a:tcPr>
                    <a:solidFill>
                      <a:srgbClr val="ECF0EE"/>
                    </a:solidFill>
                  </a:tcPr>
                </a:tc>
                <a:tc>
                  <a:txBody>
                    <a:bodyPr/>
                    <a:lstStyle/>
                    <a:p>
                      <a:r>
                        <a:rPr sz="1300">
                          <a:latin typeface="IBM Plex Sans"/>
                        </a:rPr>
                        <a:t>0.618</a:t>
                      </a:r>
                    </a:p>
                  </a:txBody>
                  <a:tcPr>
                    <a:solidFill>
                      <a:srgbClr val="ECF0EE"/>
                    </a:solidFill>
                  </a:tcPr>
                </a:tc>
                <a:tc>
                  <a:txBody>
                    <a:bodyPr/>
                    <a:lstStyle/>
                    <a:p>
                      <a:r>
                        <a:rPr sz="1300">
                          <a:latin typeface="IBM Plex Sans"/>
                        </a:rPr>
                        <a:t>0.520</a:t>
                      </a:r>
                    </a:p>
                  </a:txBody>
                  <a:tcPr>
                    <a:solidFill>
                      <a:srgbClr val="ECF0EE"/>
                    </a:solidFill>
                  </a:tcPr>
                </a:tc>
                <a:tc>
                  <a:txBody>
                    <a:bodyPr/>
                    <a:lstStyle/>
                    <a:p>
                      <a:r>
                        <a:rPr sz="1300">
                          <a:latin typeface="IBM Plex Sans"/>
                        </a:rPr>
                        <a:t>663</a:t>
                      </a:r>
                    </a:p>
                  </a:txBody>
                  <a:tcPr>
                    <a:solidFill>
                      <a:srgbClr val="ECF0EE"/>
                    </a:solidFill>
                  </a:tcPr>
                </a:tc>
              </a:tr>
              <a:tr h="329184">
                <a:tc>
                  <a:txBody>
                    <a:bodyPr/>
                    <a:lstStyle/>
                    <a:p>
                      <a:r>
                        <a:rPr sz="1300">
                          <a:latin typeface="IBM Plex Sans"/>
                        </a:rPr>
                        <a:t>FKAN</a:t>
                      </a:r>
                    </a:p>
                  </a:txBody>
                  <a:tcPr>
                    <a:solidFill>
                      <a:srgbClr val="FFFFFF"/>
                    </a:solidFill>
                  </a:tcPr>
                </a:tc>
                <a:tc>
                  <a:txBody>
                    <a:bodyPr/>
                    <a:lstStyle/>
                    <a:p>
                      <a:r>
                        <a:rPr sz="1300">
                          <a:latin typeface="IBM Plex Sans"/>
                        </a:rPr>
                        <a:t>0.1350</a:t>
                      </a:r>
                    </a:p>
                  </a:txBody>
                  <a:tcPr>
                    <a:solidFill>
                      <a:srgbClr val="FFFFFF"/>
                    </a:solidFill>
                  </a:tcPr>
                </a:tc>
                <a:tc>
                  <a:txBody>
                    <a:bodyPr/>
                    <a:lstStyle/>
                    <a:p>
                      <a:r>
                        <a:rPr sz="1300">
                          <a:latin typeface="IBM Plex Sans"/>
                        </a:rPr>
                        <a:t>0.1172</a:t>
                      </a:r>
                    </a:p>
                  </a:txBody>
                  <a:tcPr>
                    <a:solidFill>
                      <a:srgbClr val="FFFFFF"/>
                    </a:solidFill>
                  </a:tcPr>
                </a:tc>
                <a:tc>
                  <a:txBody>
                    <a:bodyPr/>
                    <a:lstStyle/>
                    <a:p>
                      <a:r>
                        <a:rPr sz="1300">
                          <a:latin typeface="IBM Plex Sans"/>
                        </a:rPr>
                        <a:t>0.509</a:t>
                      </a:r>
                    </a:p>
                  </a:txBody>
                  <a:tcPr>
                    <a:solidFill>
                      <a:srgbClr val="FFFFFF"/>
                    </a:solidFill>
                  </a:tcPr>
                </a:tc>
                <a:tc>
                  <a:txBody>
                    <a:bodyPr/>
                    <a:lstStyle/>
                    <a:p>
                      <a:r>
                        <a:rPr sz="1300">
                          <a:latin typeface="IBM Plex Sans"/>
                        </a:rPr>
                        <a:t>0.415</a:t>
                      </a:r>
                    </a:p>
                  </a:txBody>
                  <a:tcPr>
                    <a:solidFill>
                      <a:srgbClr val="FFFFFF"/>
                    </a:solidFill>
                  </a:tcPr>
                </a:tc>
                <a:tc>
                  <a:txBody>
                    <a:bodyPr/>
                    <a:lstStyle/>
                    <a:p>
                      <a:r>
                        <a:rPr sz="1300">
                          <a:latin typeface="IBM Plex Sans"/>
                        </a:rPr>
                        <a:t>49</a:t>
                      </a:r>
                    </a:p>
                  </a:txBody>
                  <a:tcPr>
                    <a:solidFill>
                      <a:srgbClr val="FFFFFF"/>
                    </a:solidFill>
                  </a:tcPr>
                </a:tc>
              </a:tr>
              <a:tr h="329184">
                <a:tc>
                  <a:txBody>
                    <a:bodyPr/>
                    <a:lstStyle/>
                    <a:p>
                      <a:r>
                        <a:rPr sz="1300">
                          <a:latin typeface="IBM Plex Sans"/>
                        </a:rPr>
                        <a:t>RFKAN</a:t>
                      </a:r>
                    </a:p>
                  </a:txBody>
                  <a:tcPr>
                    <a:solidFill>
                      <a:srgbClr val="ECF0EE"/>
                    </a:solidFill>
                  </a:tcPr>
                </a:tc>
                <a:tc>
                  <a:txBody>
                    <a:bodyPr/>
                    <a:lstStyle/>
                    <a:p>
                      <a:r>
                        <a:rPr sz="1300">
                          <a:latin typeface="IBM Plex Sans"/>
                        </a:rPr>
                        <a:t>0.1076</a:t>
                      </a:r>
                    </a:p>
                  </a:txBody>
                  <a:tcPr>
                    <a:solidFill>
                      <a:srgbClr val="ECF0EE"/>
                    </a:solidFill>
                  </a:tcPr>
                </a:tc>
                <a:tc>
                  <a:txBody>
                    <a:bodyPr/>
                    <a:lstStyle/>
                    <a:p>
                      <a:r>
                        <a:rPr sz="1300">
                          <a:latin typeface="IBM Plex Sans"/>
                        </a:rPr>
                        <a:t>0.1052</a:t>
                      </a:r>
                    </a:p>
                  </a:txBody>
                  <a:tcPr>
                    <a:solidFill>
                      <a:srgbClr val="ECF0EE"/>
                    </a:solidFill>
                  </a:tcPr>
                </a:tc>
                <a:tc>
                  <a:txBody>
                    <a:bodyPr/>
                    <a:lstStyle/>
                    <a:p>
                      <a:r>
                        <a:rPr sz="1300">
                          <a:latin typeface="IBM Plex Sans"/>
                        </a:rPr>
                        <a:t>0.604</a:t>
                      </a:r>
                    </a:p>
                  </a:txBody>
                  <a:tcPr>
                    <a:solidFill>
                      <a:srgbClr val="ECF0EE"/>
                    </a:solidFill>
                  </a:tcPr>
                </a:tc>
                <a:tc>
                  <a:txBody>
                    <a:bodyPr/>
                    <a:lstStyle/>
                    <a:p>
                      <a:r>
                        <a:rPr sz="1300">
                          <a:latin typeface="IBM Plex Sans"/>
                        </a:rPr>
                        <a:t>0.478</a:t>
                      </a:r>
                    </a:p>
                  </a:txBody>
                  <a:tcPr>
                    <a:solidFill>
                      <a:srgbClr val="ECF0EE"/>
                    </a:solidFill>
                  </a:tcPr>
                </a:tc>
                <a:tc>
                  <a:txBody>
                    <a:bodyPr/>
                    <a:lstStyle/>
                    <a:p>
                      <a:r>
                        <a:rPr sz="1300">
                          <a:latin typeface="IBM Plex Sans"/>
                        </a:rPr>
                        <a:t>392</a:t>
                      </a:r>
                    </a:p>
                  </a:txBody>
                  <a:tcPr>
                    <a:solidFill>
                      <a:srgbClr val="ECF0EE"/>
                    </a:solidFill>
                  </a:tcPr>
                </a:tc>
              </a:tr>
              <a:tr h="329184">
                <a:tc>
                  <a:txBody>
                    <a:bodyPr/>
                    <a:lstStyle/>
                    <a:p>
                      <a:r>
                        <a:rPr sz="1300">
                          <a:latin typeface="IBM Plex Sans"/>
                        </a:rPr>
                        <a:t>Persistencia</a:t>
                      </a:r>
                    </a:p>
                  </a:txBody>
                  <a:tcPr>
                    <a:solidFill>
                      <a:srgbClr val="FFFFFF"/>
                    </a:solidFill>
                  </a:tcPr>
                </a:tc>
                <a:tc>
                  <a:txBody>
                    <a:bodyPr/>
                    <a:lstStyle/>
                    <a:p>
                      <a:r>
                        <a:rPr sz="1300">
                          <a:latin typeface="IBM Plex Sans"/>
                        </a:rPr>
                        <a:t>0.1379</a:t>
                      </a:r>
                    </a:p>
                  </a:txBody>
                  <a:tcPr>
                    <a:solidFill>
                      <a:srgbClr val="FFFFFF"/>
                    </a:solidFill>
                  </a:tcPr>
                </a:tc>
                <a:tc>
                  <a:txBody>
                    <a:bodyPr/>
                    <a:lstStyle/>
                    <a:p>
                      <a:r>
                        <a:rPr sz="1300">
                          <a:latin typeface="IBM Plex Sans"/>
                        </a:rPr>
                        <a:t>0.1188</a:t>
                      </a:r>
                    </a:p>
                  </a:txBody>
                  <a:tcPr>
                    <a:solidFill>
                      <a:srgbClr val="FFFFFF"/>
                    </a:solidFill>
                  </a:tcPr>
                </a:tc>
                <a:tc>
                  <a:txBody>
                    <a:bodyPr/>
                    <a:lstStyle/>
                    <a:p>
                      <a:r>
                        <a:rPr sz="1300">
                          <a:latin typeface="IBM Plex Sans"/>
                        </a:rPr>
                        <a:t>0.496</a:t>
                      </a:r>
                    </a:p>
                  </a:txBody>
                  <a:tcPr>
                    <a:solidFill>
                      <a:srgbClr val="FFFFFF"/>
                    </a:solidFill>
                  </a:tcPr>
                </a:tc>
                <a:tc>
                  <a:txBody>
                    <a:bodyPr/>
                    <a:lstStyle/>
                    <a:p>
                      <a:r>
                        <a:rPr sz="1300">
                          <a:latin typeface="IBM Plex Sans"/>
                        </a:rPr>
                        <a:t>0.492</a:t>
                      </a:r>
                    </a:p>
                  </a:txBody>
                  <a:tcPr>
                    <a:solidFill>
                      <a:srgbClr val="FFFFFF"/>
                    </a:solidFill>
                  </a:tcPr>
                </a:tc>
                <a:tc>
                  <a:txBody>
                    <a:bodyPr/>
                    <a:lstStyle/>
                    <a:p>
                      <a:r>
                        <a:rPr sz="1300">
                          <a:latin typeface="IBM Plex Sans"/>
                        </a:rPr>
                        <a:t>0</a:t>
                      </a:r>
                    </a:p>
                  </a:txBody>
                  <a:tcPr>
                    <a:solidFill>
                      <a:srgbClr val="FFFFFF"/>
                    </a:solidFill>
                  </a:tcPr>
                </a:tc>
              </a:tr>
            </a:tbl>
          </a:graphicData>
        </a:graphic>
      </p:graphicFrame>
      <p:sp>
        <p:nvSpPr>
          <p:cNvPr id="6" name="TextBox 5"/>
          <p:cNvSpPr txBox="1"/>
          <p:nvPr/>
        </p:nvSpPr>
        <p:spPr>
          <a:xfrm>
            <a:off x="640080" y="3621024"/>
            <a:ext cx="10908792" cy="822960"/>
          </a:xfrm>
          <a:prstGeom prst="rect">
            <a:avLst/>
          </a:prstGeom>
          <a:noFill/>
        </p:spPr>
        <p:txBody>
          <a:bodyPr wrap="square">
            <a:spAutoFit/>
          </a:bodyPr>
          <a:lstStyle/>
          <a:p>
            <a:r>
              <a:rPr sz="1700" b="0">
                <a:solidFill>
                  <a:srgbClr val="4A5568"/>
                </a:solidFill>
                <a:latin typeface="IBM Plex Sans"/>
              </a:rPr>
              <a:t>Agregar recurrencia a Fourier (FKAN → RFKAN): -10.2 % de RMSE de test. Cambiar splines por Fourier (RKAN → RFKAN): +1.9 %.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RESULTADOS</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Largo de ventana: la recurrencia lo hace irrelevante</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14</a:t>
            </a:r>
          </a:p>
        </p:txBody>
      </p:sp>
      <p:graphicFrame>
        <p:nvGraphicFramePr>
          <p:cNvPr id="5" name="Chart 4"/>
          <p:cNvGraphicFramePr>
            <a:graphicFrameLocks noGrp="1"/>
          </p:cNvGraphicFramePr>
          <p:nvPr/>
        </p:nvGraphicFramePr>
        <p:xfrm>
          <a:off x="640080" y="1417320"/>
          <a:ext cx="10908792" cy="3840480"/>
        </p:xfrm>
        <a:graphic>
          <a:graphicData uri="http://schemas.openxmlformats.org/drawingml/2006/chart">
            <c:chart xmlns:c="http://schemas.openxmlformats.org/drawingml/2006/chart" r:id="rId2"/>
          </a:graphicData>
        </a:graphic>
      </p:graphicFrame>
      <p:sp>
        <p:nvSpPr>
          <p:cNvPr id="6" name="TextBox 5"/>
          <p:cNvSpPr txBox="1"/>
          <p:nvPr/>
        </p:nvSpPr>
        <p:spPr>
          <a:xfrm>
            <a:off x="640080" y="5349240"/>
            <a:ext cx="10908792" cy="822960"/>
          </a:xfrm>
          <a:prstGeom prst="rect">
            <a:avLst/>
          </a:prstGeom>
          <a:noFill/>
        </p:spPr>
        <p:txBody>
          <a:bodyPr wrap="square">
            <a:spAutoFit/>
          </a:bodyPr>
          <a:lstStyle/>
          <a:p>
            <a:r>
              <a:rPr sz="1700" b="0">
                <a:solidFill>
                  <a:srgbClr val="4A5568"/>
                </a:solidFill>
                <a:latin typeface="IBM Plex Sans"/>
              </a:rPr>
              <a:t>RKAN y RFKAN son casi planos en L; KAN y FKAN (aplanados) empeoran. LSTM y GRU mejoran hasta 24–72 h; el LSTM con 168 h no entrena.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RESULTADOS</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Grilla: refinar no mejora, pero protege</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15</a:t>
            </a:r>
          </a:p>
        </p:txBody>
      </p:sp>
      <p:graphicFrame>
        <p:nvGraphicFramePr>
          <p:cNvPr id="5" name="Table 4"/>
          <p:cNvGraphicFramePr>
            <a:graphicFrameLocks noGrp="1"/>
          </p:cNvGraphicFramePr>
          <p:nvPr/>
        </p:nvGraphicFramePr>
        <p:xfrm>
          <a:off x="640080" y="1417320"/>
          <a:ext cx="10908792" cy="1975104"/>
        </p:xfrm>
        <a:graphic>
          <a:graphicData uri="http://schemas.openxmlformats.org/drawingml/2006/table">
            <a:tbl>
              <a:tblPr firstRow="1" bandRow="1">
                <a:tableStyleId>{5C22544A-7EE6-4342-B048-85BDC9FD1C3A}</a:tableStyleId>
              </a:tblPr>
              <a:tblGrid>
                <a:gridCol w="3636264"/>
                <a:gridCol w="3636264"/>
                <a:gridCol w="3636264"/>
              </a:tblGrid>
              <a:tr h="329184">
                <a:tc>
                  <a:txBody>
                    <a:bodyPr/>
                    <a:lstStyle/>
                    <a:p>
                      <a:r>
                        <a:rPr sz="1300" b="1">
                          <a:solidFill>
                            <a:srgbClr val="F4F6F3"/>
                          </a:solidFill>
                          <a:latin typeface="IBM Plex Sans"/>
                        </a:rPr>
                        <a:t>Variante RFKAN</a:t>
                      </a:r>
                    </a:p>
                  </a:txBody>
                  <a:tcPr>
                    <a:solidFill>
                      <a:srgbClr val="14213D"/>
                    </a:solidFill>
                  </a:tcPr>
                </a:tc>
                <a:tc>
                  <a:txBody>
                    <a:bodyPr/>
                    <a:lstStyle/>
                    <a:p>
                      <a:r>
                        <a:rPr sz="1300" b="1">
                          <a:solidFill>
                            <a:srgbClr val="F4F6F3"/>
                          </a:solidFill>
                          <a:latin typeface="IBM Plex Sans"/>
                        </a:rPr>
                        <a:t>RMSE val</a:t>
                      </a:r>
                    </a:p>
                  </a:txBody>
                  <a:tcPr>
                    <a:solidFill>
                      <a:srgbClr val="14213D"/>
                    </a:solidFill>
                  </a:tcPr>
                </a:tc>
                <a:tc>
                  <a:txBody>
                    <a:bodyPr/>
                    <a:lstStyle/>
                    <a:p>
                      <a:r>
                        <a:rPr sz="1300" b="1">
                          <a:solidFill>
                            <a:srgbClr val="F4F6F3"/>
                          </a:solidFill>
                          <a:latin typeface="IBM Plex Sans"/>
                        </a:rPr>
                        <a:t>RMSE test</a:t>
                      </a:r>
                    </a:p>
                  </a:txBody>
                  <a:tcPr>
                    <a:solidFill>
                      <a:srgbClr val="14213D"/>
                    </a:solidFill>
                  </a:tcPr>
                </a:tc>
              </a:tr>
              <a:tr h="329184">
                <a:tc>
                  <a:txBody>
                    <a:bodyPr/>
                    <a:lstStyle/>
                    <a:p>
                      <a:r>
                        <a:rPr sz="1300">
                          <a:latin typeface="IBM Plex Sans"/>
                        </a:rPr>
                        <a:t>refinamiento 3 → 100 (estándar)</a:t>
                      </a:r>
                    </a:p>
                  </a:txBody>
                  <a:tcPr>
                    <a:solidFill>
                      <a:srgbClr val="FFFFFF"/>
                    </a:solidFill>
                  </a:tcPr>
                </a:tc>
                <a:tc>
                  <a:txBody>
                    <a:bodyPr/>
                    <a:lstStyle/>
                    <a:p>
                      <a:r>
                        <a:rPr sz="1300">
                          <a:latin typeface="IBM Plex Sans"/>
                        </a:rPr>
                        <a:t>0.1076</a:t>
                      </a:r>
                    </a:p>
                  </a:txBody>
                  <a:tcPr>
                    <a:solidFill>
                      <a:srgbClr val="FFFFFF"/>
                    </a:solidFill>
                  </a:tcPr>
                </a:tc>
                <a:tc>
                  <a:txBody>
                    <a:bodyPr/>
                    <a:lstStyle/>
                    <a:p>
                      <a:r>
                        <a:rPr sz="1300">
                          <a:latin typeface="IBM Plex Sans"/>
                        </a:rPr>
                        <a:t>0.1052</a:t>
                      </a:r>
                    </a:p>
                  </a:txBody>
                  <a:tcPr>
                    <a:solidFill>
                      <a:srgbClr val="FFFFFF"/>
                    </a:solidFill>
                  </a:tcPr>
                </a:tc>
              </a:tr>
              <a:tr h="329184">
                <a:tc>
                  <a:txBody>
                    <a:bodyPr/>
                    <a:lstStyle/>
                    <a:p>
                      <a:r>
                        <a:rPr sz="1300">
                          <a:latin typeface="IBM Plex Sans"/>
                        </a:rPr>
                        <a:t>refinamiento 3 → 200</a:t>
                      </a:r>
                    </a:p>
                  </a:txBody>
                  <a:tcPr>
                    <a:solidFill>
                      <a:srgbClr val="ECF0EE"/>
                    </a:solidFill>
                  </a:tcPr>
                </a:tc>
                <a:tc>
                  <a:txBody>
                    <a:bodyPr/>
                    <a:lstStyle/>
                    <a:p>
                      <a:r>
                        <a:rPr sz="1300">
                          <a:latin typeface="IBM Plex Sans"/>
                        </a:rPr>
                        <a:t>0.1076</a:t>
                      </a:r>
                    </a:p>
                  </a:txBody>
                  <a:tcPr>
                    <a:solidFill>
                      <a:srgbClr val="ECF0EE"/>
                    </a:solidFill>
                  </a:tcPr>
                </a:tc>
                <a:tc>
                  <a:txBody>
                    <a:bodyPr/>
                    <a:lstStyle/>
                    <a:p>
                      <a:r>
                        <a:rPr sz="1300">
                          <a:latin typeface="IBM Plex Sans"/>
                        </a:rPr>
                        <a:t>0.1052</a:t>
                      </a:r>
                    </a:p>
                  </a:txBody>
                  <a:tcPr>
                    <a:solidFill>
                      <a:srgbClr val="ECF0EE"/>
                    </a:solidFill>
                  </a:tcPr>
                </a:tc>
              </a:tr>
              <a:tr h="329184">
                <a:tc>
                  <a:txBody>
                    <a:bodyPr/>
                    <a:lstStyle/>
                    <a:p>
                      <a:r>
                        <a:rPr sz="1300">
                          <a:latin typeface="IBM Plex Sans"/>
                        </a:rPr>
                        <a:t>grilla 3 fija</a:t>
                      </a:r>
                    </a:p>
                  </a:txBody>
                  <a:tcPr>
                    <a:solidFill>
                      <a:srgbClr val="FFFFFF"/>
                    </a:solidFill>
                  </a:tcPr>
                </a:tc>
                <a:tc>
                  <a:txBody>
                    <a:bodyPr/>
                    <a:lstStyle/>
                    <a:p>
                      <a:r>
                        <a:rPr sz="1300">
                          <a:latin typeface="IBM Plex Sans"/>
                        </a:rPr>
                        <a:t>0.1096</a:t>
                      </a:r>
                    </a:p>
                  </a:txBody>
                  <a:tcPr>
                    <a:solidFill>
                      <a:srgbClr val="FFFFFF"/>
                    </a:solidFill>
                  </a:tcPr>
                </a:tc>
                <a:tc>
                  <a:txBody>
                    <a:bodyPr/>
                    <a:lstStyle/>
                    <a:p>
                      <a:r>
                        <a:rPr sz="1300">
                          <a:latin typeface="IBM Plex Sans"/>
                        </a:rPr>
                        <a:t>0.1070</a:t>
                      </a:r>
                    </a:p>
                  </a:txBody>
                  <a:tcPr>
                    <a:solidFill>
                      <a:srgbClr val="FFFFFF"/>
                    </a:solidFill>
                  </a:tcPr>
                </a:tc>
              </a:tr>
              <a:tr h="329184">
                <a:tc>
                  <a:txBody>
                    <a:bodyPr/>
                    <a:lstStyle/>
                    <a:p>
                      <a:r>
                        <a:rPr sz="1300">
                          <a:latin typeface="IBM Plex Sans"/>
                        </a:rPr>
                        <a:t>grilla 100 fija</a:t>
                      </a:r>
                    </a:p>
                  </a:txBody>
                  <a:tcPr>
                    <a:solidFill>
                      <a:srgbClr val="ECF0EE"/>
                    </a:solidFill>
                  </a:tcPr>
                </a:tc>
                <a:tc>
                  <a:txBody>
                    <a:bodyPr/>
                    <a:lstStyle/>
                    <a:p>
                      <a:r>
                        <a:rPr sz="1300">
                          <a:latin typeface="IBM Plex Sans"/>
                        </a:rPr>
                        <a:t>0.1405</a:t>
                      </a:r>
                    </a:p>
                  </a:txBody>
                  <a:tcPr>
                    <a:solidFill>
                      <a:srgbClr val="ECF0EE"/>
                    </a:solidFill>
                  </a:tcPr>
                </a:tc>
                <a:tc>
                  <a:txBody>
                    <a:bodyPr/>
                    <a:lstStyle/>
                    <a:p>
                      <a:r>
                        <a:rPr sz="1300">
                          <a:latin typeface="IBM Plex Sans"/>
                        </a:rPr>
                        <a:t>0.1220</a:t>
                      </a:r>
                    </a:p>
                  </a:txBody>
                  <a:tcPr>
                    <a:solidFill>
                      <a:srgbClr val="ECF0EE"/>
                    </a:solidFill>
                  </a:tcPr>
                </a:tc>
              </a:tr>
              <a:tr h="329184">
                <a:tc>
                  <a:txBody>
                    <a:bodyPr/>
                    <a:lstStyle/>
                    <a:p>
                      <a:r>
                        <a:rPr sz="1300">
                          <a:latin typeface="IBM Plex Sans"/>
                        </a:rPr>
                        <a:t>refinamiento sin reducir el lr</a:t>
                      </a:r>
                    </a:p>
                  </a:txBody>
                  <a:tcPr>
                    <a:solidFill>
                      <a:srgbClr val="FFFFFF"/>
                    </a:solidFill>
                  </a:tcPr>
                </a:tc>
                <a:tc>
                  <a:txBody>
                    <a:bodyPr/>
                    <a:lstStyle/>
                    <a:p>
                      <a:r>
                        <a:rPr sz="1300">
                          <a:latin typeface="IBM Plex Sans"/>
                        </a:rPr>
                        <a:t>0.1136</a:t>
                      </a:r>
                    </a:p>
                  </a:txBody>
                  <a:tcPr>
                    <a:solidFill>
                      <a:srgbClr val="FFFFFF"/>
                    </a:solidFill>
                  </a:tcPr>
                </a:tc>
                <a:tc>
                  <a:txBody>
                    <a:bodyPr/>
                    <a:lstStyle/>
                    <a:p>
                      <a:r>
                        <a:rPr sz="1300">
                          <a:latin typeface="IBM Plex Sans"/>
                        </a:rPr>
                        <a:t>0.1071</a:t>
                      </a:r>
                    </a:p>
                  </a:txBody>
                  <a:tcPr>
                    <a:solidFill>
                      <a:srgbClr val="FFFFFF"/>
                    </a:solidFill>
                  </a:tcPr>
                </a:tc>
              </a:tr>
            </a:tbl>
          </a:graphicData>
        </a:graphic>
      </p:graphicFrame>
      <p:sp>
        <p:nvSpPr>
          <p:cNvPr id="6" name="TextBox 5"/>
          <p:cNvSpPr txBox="1"/>
          <p:nvPr/>
        </p:nvSpPr>
        <p:spPr>
          <a:xfrm>
            <a:off x="640080" y="3621024"/>
            <a:ext cx="10908792" cy="822960"/>
          </a:xfrm>
          <a:prstGeom prst="rect">
            <a:avLst/>
          </a:prstGeom>
          <a:noFill/>
        </p:spPr>
        <p:txBody>
          <a:bodyPr wrap="square">
            <a:spAutoFit/>
          </a:bodyPr>
          <a:lstStyle/>
          <a:p>
            <a:r>
              <a:rPr sz="1700" b="0">
                <a:solidFill>
                  <a:srgbClr val="4A5568"/>
                </a:solidFill>
                <a:latin typeface="IBM Plex Sans"/>
              </a:rPr>
              <a:t>Mejor época por grilla en la suite seqlen: g=5: 2, g=10: 11, g=20: 7, g=100: 4. Ninguna mejora al llegar a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RESULTADOS</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Contra los modelos base: ganan LSTM y GRU</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16</a:t>
            </a:r>
          </a:p>
        </p:txBody>
      </p:sp>
      <p:graphicFrame>
        <p:nvGraphicFramePr>
          <p:cNvPr id="5" name="Table 4"/>
          <p:cNvGraphicFramePr>
            <a:graphicFrameLocks noGrp="1"/>
          </p:cNvGraphicFramePr>
          <p:nvPr/>
        </p:nvGraphicFramePr>
        <p:xfrm>
          <a:off x="640080" y="1417320"/>
          <a:ext cx="10908792" cy="3291840"/>
        </p:xfrm>
        <a:graphic>
          <a:graphicData uri="http://schemas.openxmlformats.org/drawingml/2006/table">
            <a:tbl>
              <a:tblPr firstRow="1" bandRow="1">
                <a:tableStyleId>{5C22544A-7EE6-4342-B048-85BDC9FD1C3A}</a:tableStyleId>
              </a:tblPr>
              <a:tblGrid>
                <a:gridCol w="2181758"/>
                <a:gridCol w="2181758"/>
                <a:gridCol w="2181758"/>
                <a:gridCol w="2181758"/>
                <a:gridCol w="2181760"/>
              </a:tblGrid>
              <a:tr h="329184">
                <a:tc>
                  <a:txBody>
                    <a:bodyPr/>
                    <a:lstStyle/>
                    <a:p>
                      <a:r>
                        <a:rPr sz="1200" b="1">
                          <a:solidFill>
                            <a:srgbClr val="F4F6F3"/>
                          </a:solidFill>
                          <a:latin typeface="IBM Plex Sans"/>
                        </a:rPr>
                        <a:t>Modelo</a:t>
                      </a:r>
                    </a:p>
                  </a:txBody>
                  <a:tcPr>
                    <a:solidFill>
                      <a:srgbClr val="14213D"/>
                    </a:solidFill>
                  </a:tcPr>
                </a:tc>
                <a:tc>
                  <a:txBody>
                    <a:bodyPr/>
                    <a:lstStyle/>
                    <a:p>
                      <a:r>
                        <a:rPr sz="1200" b="1">
                          <a:solidFill>
                            <a:srgbClr val="F4F6F3"/>
                          </a:solidFill>
                          <a:latin typeface="IBM Plex Sans"/>
                        </a:rPr>
                        <a:t>RMSE test</a:t>
                      </a:r>
                    </a:p>
                  </a:txBody>
                  <a:tcPr>
                    <a:solidFill>
                      <a:srgbClr val="14213D"/>
                    </a:solidFill>
                  </a:tcPr>
                </a:tc>
                <a:tc>
                  <a:txBody>
                    <a:bodyPr/>
                    <a:lstStyle/>
                    <a:p>
                      <a:r>
                        <a:rPr sz="1200" b="1">
                          <a:solidFill>
                            <a:srgbClr val="F4F6F3"/>
                          </a:solidFill>
                          <a:latin typeface="IBM Plex Sans"/>
                        </a:rPr>
                        <a:t>MAE test</a:t>
                      </a:r>
                    </a:p>
                  </a:txBody>
                  <a:tcPr>
                    <a:solidFill>
                      <a:srgbClr val="14213D"/>
                    </a:solidFill>
                  </a:tcPr>
                </a:tc>
                <a:tc>
                  <a:txBody>
                    <a:bodyPr/>
                    <a:lstStyle/>
                    <a:p>
                      <a:r>
                        <a:rPr sz="1200" b="1">
                          <a:solidFill>
                            <a:srgbClr val="F4F6F3"/>
                          </a:solidFill>
                          <a:latin typeface="IBM Plex Sans"/>
                        </a:rPr>
                        <a:t>CORR test</a:t>
                      </a:r>
                    </a:p>
                  </a:txBody>
                  <a:tcPr>
                    <a:solidFill>
                      <a:srgbClr val="14213D"/>
                    </a:solidFill>
                  </a:tcPr>
                </a:tc>
                <a:tc>
                  <a:txBody>
                    <a:bodyPr/>
                    <a:lstStyle/>
                    <a:p>
                      <a:r>
                        <a:rPr sz="1200" b="1">
                          <a:solidFill>
                            <a:srgbClr val="F4F6F3"/>
                          </a:solidFill>
                          <a:latin typeface="IBM Plex Sans"/>
                        </a:rPr>
                        <a:t>NSE med.</a:t>
                      </a:r>
                    </a:p>
                  </a:txBody>
                  <a:tcPr>
                    <a:solidFill>
                      <a:srgbClr val="14213D"/>
                    </a:solidFill>
                  </a:tcPr>
                </a:tc>
              </a:tr>
              <a:tr h="329184">
                <a:tc>
                  <a:txBody>
                    <a:bodyPr/>
                    <a:lstStyle/>
                    <a:p>
                      <a:r>
                        <a:rPr sz="1200">
                          <a:latin typeface="IBM Plex Sans"/>
                        </a:rPr>
                        <a:t>Persistence</a:t>
                      </a:r>
                    </a:p>
                  </a:txBody>
                  <a:tcPr>
                    <a:solidFill>
                      <a:srgbClr val="FFFFFF"/>
                    </a:solidFill>
                  </a:tcPr>
                </a:tc>
                <a:tc>
                  <a:txBody>
                    <a:bodyPr/>
                    <a:lstStyle/>
                    <a:p>
                      <a:r>
                        <a:rPr sz="1200">
                          <a:latin typeface="IBM Plex Sans"/>
                        </a:rPr>
                        <a:t>0.1188</a:t>
                      </a:r>
                    </a:p>
                  </a:txBody>
                  <a:tcPr>
                    <a:solidFill>
                      <a:srgbClr val="FFFFFF"/>
                    </a:solidFill>
                  </a:tcPr>
                </a:tc>
                <a:tc>
                  <a:txBody>
                    <a:bodyPr/>
                    <a:lstStyle/>
                    <a:p>
                      <a:r>
                        <a:rPr sz="1200">
                          <a:latin typeface="IBM Plex Sans"/>
                        </a:rPr>
                        <a:t>0.0246</a:t>
                      </a:r>
                    </a:p>
                  </a:txBody>
                  <a:tcPr>
                    <a:solidFill>
                      <a:srgbClr val="FFFFFF"/>
                    </a:solidFill>
                  </a:tcPr>
                </a:tc>
                <a:tc>
                  <a:txBody>
                    <a:bodyPr/>
                    <a:lstStyle/>
                    <a:p>
                      <a:r>
                        <a:rPr sz="1200">
                          <a:latin typeface="IBM Plex Sans"/>
                        </a:rPr>
                        <a:t>0.496</a:t>
                      </a:r>
                    </a:p>
                  </a:txBody>
                  <a:tcPr>
                    <a:solidFill>
                      <a:srgbClr val="FFFFFF"/>
                    </a:solidFill>
                  </a:tcPr>
                </a:tc>
                <a:tc>
                  <a:txBody>
                    <a:bodyPr/>
                    <a:lstStyle/>
                    <a:p>
                      <a:r>
                        <a:rPr sz="1200">
                          <a:latin typeface="IBM Plex Sans"/>
                        </a:rPr>
                        <a:t>0.492</a:t>
                      </a:r>
                    </a:p>
                  </a:txBody>
                  <a:tcPr>
                    <a:solidFill>
                      <a:srgbClr val="FFFFFF"/>
                    </a:solidFill>
                  </a:tcPr>
                </a:tc>
              </a:tr>
              <a:tr h="329184">
                <a:tc>
                  <a:txBody>
                    <a:bodyPr/>
                    <a:lstStyle/>
                    <a:p>
                      <a:r>
                        <a:rPr sz="1200">
                          <a:latin typeface="IBM Plex Sans"/>
                        </a:rPr>
                        <a:t>ARIMA</a:t>
                      </a:r>
                    </a:p>
                  </a:txBody>
                  <a:tcPr>
                    <a:solidFill>
                      <a:srgbClr val="ECF0EE"/>
                    </a:solidFill>
                  </a:tcPr>
                </a:tc>
                <a:tc>
                  <a:txBody>
                    <a:bodyPr/>
                    <a:lstStyle/>
                    <a:p>
                      <a:r>
                        <a:rPr sz="1200">
                          <a:latin typeface="IBM Plex Sans"/>
                        </a:rPr>
                        <a:t>6.7283</a:t>
                      </a:r>
                    </a:p>
                  </a:txBody>
                  <a:tcPr>
                    <a:solidFill>
                      <a:srgbClr val="ECF0EE"/>
                    </a:solidFill>
                  </a:tcPr>
                </a:tc>
                <a:tc>
                  <a:txBody>
                    <a:bodyPr/>
                    <a:lstStyle/>
                    <a:p>
                      <a:r>
                        <a:rPr sz="1200">
                          <a:latin typeface="IBM Plex Sans"/>
                        </a:rPr>
                        <a:t>0.2037</a:t>
                      </a:r>
                    </a:p>
                  </a:txBody>
                  <a:tcPr>
                    <a:solidFill>
                      <a:srgbClr val="ECF0EE"/>
                    </a:solidFill>
                  </a:tcPr>
                </a:tc>
                <a:tc>
                  <a:txBody>
                    <a:bodyPr/>
                    <a:lstStyle/>
                    <a:p>
                      <a:r>
                        <a:rPr sz="1200">
                          <a:latin typeface="IBM Plex Sans"/>
                        </a:rPr>
                        <a:t>-1377.799</a:t>
                      </a:r>
                    </a:p>
                  </a:txBody>
                  <a:tcPr>
                    <a:solidFill>
                      <a:srgbClr val="ECF0EE"/>
                    </a:solidFill>
                  </a:tcPr>
                </a:tc>
                <a:tc>
                  <a:txBody>
                    <a:bodyPr/>
                    <a:lstStyle/>
                    <a:p>
                      <a:r>
                        <a:rPr sz="1200">
                          <a:latin typeface="IBM Plex Sans"/>
                        </a:rPr>
                        <a:t>0.733</a:t>
                      </a:r>
                    </a:p>
                  </a:txBody>
                  <a:tcPr>
                    <a:solidFill>
                      <a:srgbClr val="ECF0EE"/>
                    </a:solidFill>
                  </a:tcPr>
                </a:tc>
              </a:tr>
              <a:tr h="329184">
                <a:tc>
                  <a:txBody>
                    <a:bodyPr/>
                    <a:lstStyle/>
                    <a:p>
                      <a:r>
                        <a:rPr sz="1200">
                          <a:latin typeface="IBM Plex Sans"/>
                        </a:rPr>
                        <a:t>SVR</a:t>
                      </a:r>
                    </a:p>
                  </a:txBody>
                  <a:tcPr>
                    <a:solidFill>
                      <a:srgbClr val="FFFFFF"/>
                    </a:solidFill>
                  </a:tcPr>
                </a:tc>
                <a:tc>
                  <a:txBody>
                    <a:bodyPr/>
                    <a:lstStyle/>
                    <a:p>
                      <a:r>
                        <a:rPr sz="1200">
                          <a:latin typeface="IBM Plex Sans"/>
                        </a:rPr>
                        <a:t>0.1187</a:t>
                      </a:r>
                    </a:p>
                  </a:txBody>
                  <a:tcPr>
                    <a:solidFill>
                      <a:srgbClr val="FFFFFF"/>
                    </a:solidFill>
                  </a:tcPr>
                </a:tc>
                <a:tc>
                  <a:txBody>
                    <a:bodyPr/>
                    <a:lstStyle/>
                    <a:p>
                      <a:r>
                        <a:rPr sz="1200">
                          <a:latin typeface="IBM Plex Sans"/>
                        </a:rPr>
                        <a:t>0.0256</a:t>
                      </a:r>
                    </a:p>
                  </a:txBody>
                  <a:tcPr>
                    <a:solidFill>
                      <a:srgbClr val="FFFFFF"/>
                    </a:solidFill>
                  </a:tcPr>
                </a:tc>
                <a:tc>
                  <a:txBody>
                    <a:bodyPr/>
                    <a:lstStyle/>
                    <a:p>
                      <a:r>
                        <a:rPr sz="1200">
                          <a:latin typeface="IBM Plex Sans"/>
                        </a:rPr>
                        <a:t>0.497</a:t>
                      </a:r>
                    </a:p>
                  </a:txBody>
                  <a:tcPr>
                    <a:solidFill>
                      <a:srgbClr val="FFFFFF"/>
                    </a:solidFill>
                  </a:tcPr>
                </a:tc>
                <a:tc>
                  <a:txBody>
                    <a:bodyPr/>
                    <a:lstStyle/>
                    <a:p>
                      <a:r>
                        <a:rPr sz="1200">
                          <a:latin typeface="IBM Plex Sans"/>
                        </a:rPr>
                        <a:t>0.432</a:t>
                      </a:r>
                    </a:p>
                  </a:txBody>
                  <a:tcPr>
                    <a:solidFill>
                      <a:srgbClr val="FFFFFF"/>
                    </a:solidFill>
                  </a:tcPr>
                </a:tc>
              </a:tr>
              <a:tr h="329184">
                <a:tc>
                  <a:txBody>
                    <a:bodyPr/>
                    <a:lstStyle/>
                    <a:p>
                      <a:r>
                        <a:rPr sz="1200">
                          <a:latin typeface="IBM Plex Sans"/>
                        </a:rPr>
                        <a:t>ELM</a:t>
                      </a:r>
                    </a:p>
                  </a:txBody>
                  <a:tcPr>
                    <a:solidFill>
                      <a:srgbClr val="ECF0EE"/>
                    </a:solidFill>
                  </a:tcPr>
                </a:tc>
                <a:tc>
                  <a:txBody>
                    <a:bodyPr/>
                    <a:lstStyle/>
                    <a:p>
                      <a:r>
                        <a:rPr sz="1200">
                          <a:latin typeface="IBM Plex Sans"/>
                        </a:rPr>
                        <a:t>0.1423</a:t>
                      </a:r>
                    </a:p>
                  </a:txBody>
                  <a:tcPr>
                    <a:solidFill>
                      <a:srgbClr val="ECF0EE"/>
                    </a:solidFill>
                  </a:tcPr>
                </a:tc>
                <a:tc>
                  <a:txBody>
                    <a:bodyPr/>
                    <a:lstStyle/>
                    <a:p>
                      <a:r>
                        <a:rPr sz="1200">
                          <a:latin typeface="IBM Plex Sans"/>
                        </a:rPr>
                        <a:t>0.0717</a:t>
                      </a:r>
                    </a:p>
                  </a:txBody>
                  <a:tcPr>
                    <a:solidFill>
                      <a:srgbClr val="ECF0EE"/>
                    </a:solidFill>
                  </a:tcPr>
                </a:tc>
                <a:tc>
                  <a:txBody>
                    <a:bodyPr/>
                    <a:lstStyle/>
                    <a:p>
                      <a:r>
                        <a:rPr sz="1200">
                          <a:latin typeface="IBM Plex Sans"/>
                        </a:rPr>
                        <a:t>0.277</a:t>
                      </a:r>
                    </a:p>
                  </a:txBody>
                  <a:tcPr>
                    <a:solidFill>
                      <a:srgbClr val="ECF0EE"/>
                    </a:solidFill>
                  </a:tcPr>
                </a:tc>
                <a:tc>
                  <a:txBody>
                    <a:bodyPr/>
                    <a:lstStyle/>
                    <a:p>
                      <a:r>
                        <a:rPr sz="1200">
                          <a:latin typeface="IBM Plex Sans"/>
                        </a:rPr>
                        <a:t>-0.409</a:t>
                      </a:r>
                    </a:p>
                  </a:txBody>
                  <a:tcPr>
                    <a:solidFill>
                      <a:srgbClr val="ECF0EE"/>
                    </a:solidFill>
                  </a:tcPr>
                </a:tc>
              </a:tr>
              <a:tr h="329184">
                <a:tc>
                  <a:txBody>
                    <a:bodyPr/>
                    <a:lstStyle/>
                    <a:p>
                      <a:r>
                        <a:rPr sz="1200">
                          <a:latin typeface="IBM Plex Sans"/>
                        </a:rPr>
                        <a:t>LSTM</a:t>
                      </a:r>
                    </a:p>
                  </a:txBody>
                  <a:tcPr>
                    <a:solidFill>
                      <a:srgbClr val="FFFFFF"/>
                    </a:solidFill>
                  </a:tcPr>
                </a:tc>
                <a:tc>
                  <a:txBody>
                    <a:bodyPr/>
                    <a:lstStyle/>
                    <a:p>
                      <a:r>
                        <a:rPr sz="1200">
                          <a:latin typeface="IBM Plex Sans"/>
                        </a:rPr>
                        <a:t>0.1012</a:t>
                      </a:r>
                    </a:p>
                  </a:txBody>
                  <a:tcPr>
                    <a:solidFill>
                      <a:srgbClr val="FFFFFF"/>
                    </a:solidFill>
                  </a:tcPr>
                </a:tc>
                <a:tc>
                  <a:txBody>
                    <a:bodyPr/>
                    <a:lstStyle/>
                    <a:p>
                      <a:r>
                        <a:rPr sz="1200">
                          <a:latin typeface="IBM Plex Sans"/>
                        </a:rPr>
                        <a:t>0.0241</a:t>
                      </a:r>
                    </a:p>
                  </a:txBody>
                  <a:tcPr>
                    <a:solidFill>
                      <a:srgbClr val="FFFFFF"/>
                    </a:solidFill>
                  </a:tcPr>
                </a:tc>
                <a:tc>
                  <a:txBody>
                    <a:bodyPr/>
                    <a:lstStyle/>
                    <a:p>
                      <a:r>
                        <a:rPr sz="1200">
                          <a:latin typeface="IBM Plex Sans"/>
                        </a:rPr>
                        <a:t>0.634</a:t>
                      </a:r>
                    </a:p>
                  </a:txBody>
                  <a:tcPr>
                    <a:solidFill>
                      <a:srgbClr val="FFFFFF"/>
                    </a:solidFill>
                  </a:tcPr>
                </a:tc>
                <a:tc>
                  <a:txBody>
                    <a:bodyPr/>
                    <a:lstStyle/>
                    <a:p>
                      <a:r>
                        <a:rPr sz="1200">
                          <a:latin typeface="IBM Plex Sans"/>
                        </a:rPr>
                        <a:t>0.569</a:t>
                      </a:r>
                    </a:p>
                  </a:txBody>
                  <a:tcPr>
                    <a:solidFill>
                      <a:srgbClr val="FFFFFF"/>
                    </a:solidFill>
                  </a:tcPr>
                </a:tc>
              </a:tr>
              <a:tr h="329184">
                <a:tc>
                  <a:txBody>
                    <a:bodyPr/>
                    <a:lstStyle/>
                    <a:p>
                      <a:r>
                        <a:rPr sz="1200">
                          <a:latin typeface="IBM Plex Sans"/>
                        </a:rPr>
                        <a:t>GRU</a:t>
                      </a:r>
                    </a:p>
                  </a:txBody>
                  <a:tcPr>
                    <a:solidFill>
                      <a:srgbClr val="ECF0EE"/>
                    </a:solidFill>
                  </a:tcPr>
                </a:tc>
                <a:tc>
                  <a:txBody>
                    <a:bodyPr/>
                    <a:lstStyle/>
                    <a:p>
                      <a:r>
                        <a:rPr sz="1200">
                          <a:latin typeface="IBM Plex Sans"/>
                        </a:rPr>
                        <a:t>0.1015</a:t>
                      </a:r>
                    </a:p>
                  </a:txBody>
                  <a:tcPr>
                    <a:solidFill>
                      <a:srgbClr val="ECF0EE"/>
                    </a:solidFill>
                  </a:tcPr>
                </a:tc>
                <a:tc>
                  <a:txBody>
                    <a:bodyPr/>
                    <a:lstStyle/>
                    <a:p>
                      <a:r>
                        <a:rPr sz="1200">
                          <a:latin typeface="IBM Plex Sans"/>
                        </a:rPr>
                        <a:t>0.0251</a:t>
                      </a:r>
                    </a:p>
                  </a:txBody>
                  <a:tcPr>
                    <a:solidFill>
                      <a:srgbClr val="ECF0EE"/>
                    </a:solidFill>
                  </a:tcPr>
                </a:tc>
                <a:tc>
                  <a:txBody>
                    <a:bodyPr/>
                    <a:lstStyle/>
                    <a:p>
                      <a:r>
                        <a:rPr sz="1200">
                          <a:latin typeface="IBM Plex Sans"/>
                        </a:rPr>
                        <a:t>0.632</a:t>
                      </a:r>
                    </a:p>
                  </a:txBody>
                  <a:tcPr>
                    <a:solidFill>
                      <a:srgbClr val="ECF0EE"/>
                    </a:solidFill>
                  </a:tcPr>
                </a:tc>
                <a:tc>
                  <a:txBody>
                    <a:bodyPr/>
                    <a:lstStyle/>
                    <a:p>
                      <a:r>
                        <a:rPr sz="1200">
                          <a:latin typeface="IBM Plex Sans"/>
                        </a:rPr>
                        <a:t>0.535</a:t>
                      </a:r>
                    </a:p>
                  </a:txBody>
                  <a:tcPr>
                    <a:solidFill>
                      <a:srgbClr val="ECF0EE"/>
                    </a:solidFill>
                  </a:tcPr>
                </a:tc>
              </a:tr>
              <a:tr h="329184">
                <a:tc>
                  <a:txBody>
                    <a:bodyPr/>
                    <a:lstStyle/>
                    <a:p>
                      <a:r>
                        <a:rPr sz="1200">
                          <a:latin typeface="IBM Plex Sans"/>
                        </a:rPr>
                        <a:t>TCN</a:t>
                      </a:r>
                    </a:p>
                  </a:txBody>
                  <a:tcPr>
                    <a:solidFill>
                      <a:srgbClr val="FFFFFF"/>
                    </a:solidFill>
                  </a:tcPr>
                </a:tc>
                <a:tc>
                  <a:txBody>
                    <a:bodyPr/>
                    <a:lstStyle/>
                    <a:p>
                      <a:r>
                        <a:rPr sz="1200">
                          <a:latin typeface="IBM Plex Sans"/>
                        </a:rPr>
                        <a:t>0.1032</a:t>
                      </a:r>
                    </a:p>
                  </a:txBody>
                  <a:tcPr>
                    <a:solidFill>
                      <a:srgbClr val="FFFFFF"/>
                    </a:solidFill>
                  </a:tcPr>
                </a:tc>
                <a:tc>
                  <a:txBody>
                    <a:bodyPr/>
                    <a:lstStyle/>
                    <a:p>
                      <a:r>
                        <a:rPr sz="1200">
                          <a:latin typeface="IBM Plex Sans"/>
                        </a:rPr>
                        <a:t>0.0285</a:t>
                      </a:r>
                    </a:p>
                  </a:txBody>
                  <a:tcPr>
                    <a:solidFill>
                      <a:srgbClr val="FFFFFF"/>
                    </a:solidFill>
                  </a:tcPr>
                </a:tc>
                <a:tc>
                  <a:txBody>
                    <a:bodyPr/>
                    <a:lstStyle/>
                    <a:p>
                      <a:r>
                        <a:rPr sz="1200">
                          <a:latin typeface="IBM Plex Sans"/>
                        </a:rPr>
                        <a:t>0.620</a:t>
                      </a:r>
                    </a:p>
                  </a:txBody>
                  <a:tcPr>
                    <a:solidFill>
                      <a:srgbClr val="FFFFFF"/>
                    </a:solidFill>
                  </a:tcPr>
                </a:tc>
                <a:tc>
                  <a:txBody>
                    <a:bodyPr/>
                    <a:lstStyle/>
                    <a:p>
                      <a:r>
                        <a:rPr sz="1200">
                          <a:latin typeface="IBM Plex Sans"/>
                        </a:rPr>
                        <a:t>0.518</a:t>
                      </a:r>
                    </a:p>
                  </a:txBody>
                  <a:tcPr>
                    <a:solidFill>
                      <a:srgbClr val="FFFFFF"/>
                    </a:solidFill>
                  </a:tcPr>
                </a:tc>
              </a:tr>
              <a:tr h="329184">
                <a:tc>
                  <a:txBody>
                    <a:bodyPr/>
                    <a:lstStyle/>
                    <a:p>
                      <a:r>
                        <a:rPr sz="1200">
                          <a:latin typeface="IBM Plex Sans"/>
                        </a:rPr>
                        <a:t>RKAN_L72</a:t>
                      </a:r>
                    </a:p>
                  </a:txBody>
                  <a:tcPr>
                    <a:solidFill>
                      <a:srgbClr val="ECF0EE"/>
                    </a:solidFill>
                  </a:tcPr>
                </a:tc>
                <a:tc>
                  <a:txBody>
                    <a:bodyPr/>
                    <a:lstStyle/>
                    <a:p>
                      <a:r>
                        <a:rPr sz="1200">
                          <a:latin typeface="IBM Plex Sans"/>
                        </a:rPr>
                        <a:t>0.1033</a:t>
                      </a:r>
                    </a:p>
                  </a:txBody>
                  <a:tcPr>
                    <a:solidFill>
                      <a:srgbClr val="ECF0EE"/>
                    </a:solidFill>
                  </a:tcPr>
                </a:tc>
                <a:tc>
                  <a:txBody>
                    <a:bodyPr/>
                    <a:lstStyle/>
                    <a:p>
                      <a:r>
                        <a:rPr sz="1200">
                          <a:latin typeface="IBM Plex Sans"/>
                        </a:rPr>
                        <a:t>0.0270</a:t>
                      </a:r>
                    </a:p>
                  </a:txBody>
                  <a:tcPr>
                    <a:solidFill>
                      <a:srgbClr val="ECF0EE"/>
                    </a:solidFill>
                  </a:tcPr>
                </a:tc>
                <a:tc>
                  <a:txBody>
                    <a:bodyPr/>
                    <a:lstStyle/>
                    <a:p>
                      <a:r>
                        <a:rPr sz="1200">
                          <a:latin typeface="IBM Plex Sans"/>
                        </a:rPr>
                        <a:t>0.618</a:t>
                      </a:r>
                    </a:p>
                  </a:txBody>
                  <a:tcPr>
                    <a:solidFill>
                      <a:srgbClr val="ECF0EE"/>
                    </a:solidFill>
                  </a:tcPr>
                </a:tc>
                <a:tc>
                  <a:txBody>
                    <a:bodyPr/>
                    <a:lstStyle/>
                    <a:p>
                      <a:r>
                        <a:rPr sz="1200">
                          <a:latin typeface="IBM Plex Sans"/>
                        </a:rPr>
                        <a:t>0.520</a:t>
                      </a:r>
                    </a:p>
                  </a:txBody>
                  <a:tcPr>
                    <a:solidFill>
                      <a:srgbClr val="ECF0EE"/>
                    </a:solidFill>
                  </a:tcPr>
                </a:tc>
              </a:tr>
              <a:tr h="329184">
                <a:tc>
                  <a:txBody>
                    <a:bodyPr/>
                    <a:lstStyle/>
                    <a:p>
                      <a:r>
                        <a:rPr sz="1200">
                          <a:latin typeface="IBM Plex Sans"/>
                        </a:rPr>
                        <a:t>RFKAN_L72</a:t>
                      </a:r>
                    </a:p>
                  </a:txBody>
                  <a:tcPr>
                    <a:solidFill>
                      <a:srgbClr val="FFFFFF"/>
                    </a:solidFill>
                  </a:tcPr>
                </a:tc>
                <a:tc>
                  <a:txBody>
                    <a:bodyPr/>
                    <a:lstStyle/>
                    <a:p>
                      <a:r>
                        <a:rPr sz="1200">
                          <a:latin typeface="IBM Plex Sans"/>
                        </a:rPr>
                        <a:t>0.1052</a:t>
                      </a:r>
                    </a:p>
                  </a:txBody>
                  <a:tcPr>
                    <a:solidFill>
                      <a:srgbClr val="FFFFFF"/>
                    </a:solidFill>
                  </a:tcPr>
                </a:tc>
                <a:tc>
                  <a:txBody>
                    <a:bodyPr/>
                    <a:lstStyle/>
                    <a:p>
                      <a:r>
                        <a:rPr sz="1200">
                          <a:latin typeface="IBM Plex Sans"/>
                        </a:rPr>
                        <a:t>0.0285</a:t>
                      </a:r>
                    </a:p>
                  </a:txBody>
                  <a:tcPr>
                    <a:solidFill>
                      <a:srgbClr val="FFFFFF"/>
                    </a:solidFill>
                  </a:tcPr>
                </a:tc>
                <a:tc>
                  <a:txBody>
                    <a:bodyPr/>
                    <a:lstStyle/>
                    <a:p>
                      <a:r>
                        <a:rPr sz="1200">
                          <a:latin typeface="IBM Plex Sans"/>
                        </a:rPr>
                        <a:t>0.604</a:t>
                      </a:r>
                    </a:p>
                  </a:txBody>
                  <a:tcPr>
                    <a:solidFill>
                      <a:srgbClr val="FFFFFF"/>
                    </a:solidFill>
                  </a:tcPr>
                </a:tc>
                <a:tc>
                  <a:txBody>
                    <a:bodyPr/>
                    <a:lstStyle/>
                    <a:p>
                      <a:r>
                        <a:rPr sz="1200">
                          <a:latin typeface="IBM Plex Sans"/>
                        </a:rPr>
                        <a:t>0.478</a:t>
                      </a:r>
                    </a:p>
                  </a:txBody>
                  <a:tcPr>
                    <a:solidFill>
                      <a:srgbClr val="FFFFFF"/>
                    </a:solidFill>
                  </a:tcPr>
                </a:tc>
              </a:tr>
            </a:tbl>
          </a:graphicData>
        </a:graphic>
      </p:graphicFrame>
      <p:sp>
        <p:nvSpPr>
          <p:cNvPr id="6" name="TextBox 5"/>
          <p:cNvSpPr txBox="1"/>
          <p:nvPr/>
        </p:nvSpPr>
        <p:spPr>
          <a:xfrm>
            <a:off x="640080" y="4937760"/>
            <a:ext cx="10908792" cy="822960"/>
          </a:xfrm>
          <a:prstGeom prst="rect">
            <a:avLst/>
          </a:prstGeom>
          <a:noFill/>
        </p:spPr>
        <p:txBody>
          <a:bodyPr wrap="square">
            <a:spAutoFit/>
          </a:bodyPr>
          <a:lstStyle/>
          <a:p>
            <a:r>
              <a:rPr sz="1700" b="0">
                <a:solidFill>
                  <a:srgbClr val="4A5568"/>
                </a:solidFill>
                <a:latin typeface="IBM Plex Sans"/>
              </a:rPr>
              <a:t>LSTM y GRU superan a toda la familia KAN; el paper reportaba lo contrario. ARIMA: 2000 ventanas, algunas explotan. SVR (C = 0.0043) queda en persistencia; ELM sobreajusta.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RESULTADOS</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Modelos avanzados (análogo a la Tabla 7)</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17</a:t>
            </a:r>
          </a:p>
        </p:txBody>
      </p:sp>
      <p:graphicFrame>
        <p:nvGraphicFramePr>
          <p:cNvPr id="5" name="Table 4"/>
          <p:cNvGraphicFramePr>
            <a:graphicFrameLocks noGrp="1"/>
          </p:cNvGraphicFramePr>
          <p:nvPr/>
        </p:nvGraphicFramePr>
        <p:xfrm>
          <a:off x="640080" y="1417320"/>
          <a:ext cx="10908792" cy="1975104"/>
        </p:xfrm>
        <a:graphic>
          <a:graphicData uri="http://schemas.openxmlformats.org/drawingml/2006/table">
            <a:tbl>
              <a:tblPr firstRow="1" bandRow="1">
                <a:tableStyleId>{5C22544A-7EE6-4342-B048-85BDC9FD1C3A}</a:tableStyleId>
              </a:tblPr>
              <a:tblGrid>
                <a:gridCol w="1818132"/>
                <a:gridCol w="1818132"/>
                <a:gridCol w="1818132"/>
                <a:gridCol w="1818132"/>
                <a:gridCol w="1818132"/>
                <a:gridCol w="1818132"/>
              </a:tblGrid>
              <a:tr h="329184">
                <a:tc>
                  <a:txBody>
                    <a:bodyPr/>
                    <a:lstStyle/>
                    <a:p>
                      <a:r>
                        <a:rPr sz="1300" b="1">
                          <a:solidFill>
                            <a:srgbClr val="F4F6F3"/>
                          </a:solidFill>
                          <a:latin typeface="IBM Plex Sans"/>
                        </a:rPr>
                        <a:t>Modelo</a:t>
                      </a:r>
                    </a:p>
                  </a:txBody>
                  <a:tcPr>
                    <a:solidFill>
                      <a:srgbClr val="14213D"/>
                    </a:solidFill>
                  </a:tcPr>
                </a:tc>
                <a:tc>
                  <a:txBody>
                    <a:bodyPr/>
                    <a:lstStyle/>
                    <a:p>
                      <a:r>
                        <a:rPr sz="1300" b="1">
                          <a:solidFill>
                            <a:srgbClr val="F4F6F3"/>
                          </a:solidFill>
                          <a:latin typeface="IBM Plex Sans"/>
                        </a:rPr>
                        <a:t>RMSE val</a:t>
                      </a:r>
                    </a:p>
                  </a:txBody>
                  <a:tcPr>
                    <a:solidFill>
                      <a:srgbClr val="14213D"/>
                    </a:solidFill>
                  </a:tcPr>
                </a:tc>
                <a:tc>
                  <a:txBody>
                    <a:bodyPr/>
                    <a:lstStyle/>
                    <a:p>
                      <a:r>
                        <a:rPr sz="1300" b="1">
                          <a:solidFill>
                            <a:srgbClr val="F4F6F3"/>
                          </a:solidFill>
                          <a:latin typeface="IBM Plex Sans"/>
                        </a:rPr>
                        <a:t>RMSE test</a:t>
                      </a:r>
                    </a:p>
                  </a:txBody>
                  <a:tcPr>
                    <a:solidFill>
                      <a:srgbClr val="14213D"/>
                    </a:solidFill>
                  </a:tcPr>
                </a:tc>
                <a:tc>
                  <a:txBody>
                    <a:bodyPr/>
                    <a:lstStyle/>
                    <a:p>
                      <a:r>
                        <a:rPr sz="1300" b="1">
                          <a:solidFill>
                            <a:srgbClr val="F4F6F3"/>
                          </a:solidFill>
                          <a:latin typeface="IBM Plex Sans"/>
                        </a:rPr>
                        <a:t>MAE test</a:t>
                      </a:r>
                    </a:p>
                  </a:txBody>
                  <a:tcPr>
                    <a:solidFill>
                      <a:srgbClr val="14213D"/>
                    </a:solidFill>
                  </a:tcPr>
                </a:tc>
                <a:tc>
                  <a:txBody>
                    <a:bodyPr/>
                    <a:lstStyle/>
                    <a:p>
                      <a:r>
                        <a:rPr sz="1300" b="1">
                          <a:solidFill>
                            <a:srgbClr val="F4F6F3"/>
                          </a:solidFill>
                          <a:latin typeface="IBM Plex Sans"/>
                        </a:rPr>
                        <a:t>Parámetros</a:t>
                      </a:r>
                    </a:p>
                  </a:txBody>
                  <a:tcPr>
                    <a:solidFill>
                      <a:srgbClr val="14213D"/>
                    </a:solidFill>
                  </a:tcPr>
                </a:tc>
                <a:tc>
                  <a:txBody>
                    <a:bodyPr/>
                    <a:lstStyle/>
                    <a:p>
                      <a:r>
                        <a:rPr sz="1300" b="1">
                          <a:solidFill>
                            <a:srgbClr val="F4F6F3"/>
                          </a:solidFill>
                          <a:latin typeface="IBM Plex Sans"/>
                        </a:rPr>
                        <a:t>Tiempo (min)</a:t>
                      </a:r>
                    </a:p>
                  </a:txBody>
                  <a:tcPr>
                    <a:solidFill>
                      <a:srgbClr val="14213D"/>
                    </a:solidFill>
                  </a:tcPr>
                </a:tc>
              </a:tr>
              <a:tr h="329184">
                <a:tc>
                  <a:txBody>
                    <a:bodyPr/>
                    <a:lstStyle/>
                    <a:p>
                      <a:r>
                        <a:rPr sz="1300">
                          <a:latin typeface="IBM Plex Sans"/>
                        </a:rPr>
                        <a:t>Informer</a:t>
                      </a:r>
                    </a:p>
                  </a:txBody>
                  <a:tcPr>
                    <a:solidFill>
                      <a:srgbClr val="FFFFFF"/>
                    </a:solidFill>
                  </a:tcPr>
                </a:tc>
                <a:tc>
                  <a:txBody>
                    <a:bodyPr/>
                    <a:lstStyle/>
                    <a:p>
                      <a:r>
                        <a:rPr sz="1300">
                          <a:latin typeface="IBM Plex Sans"/>
                        </a:rPr>
                        <a:t>0.1099</a:t>
                      </a:r>
                    </a:p>
                  </a:txBody>
                  <a:tcPr>
                    <a:solidFill>
                      <a:srgbClr val="FFFFFF"/>
                    </a:solidFill>
                  </a:tcPr>
                </a:tc>
                <a:tc>
                  <a:txBody>
                    <a:bodyPr/>
                    <a:lstStyle/>
                    <a:p>
                      <a:r>
                        <a:rPr sz="1300">
                          <a:latin typeface="IBM Plex Sans"/>
                        </a:rPr>
                        <a:t>0.1032</a:t>
                      </a:r>
                    </a:p>
                  </a:txBody>
                  <a:tcPr>
                    <a:solidFill>
                      <a:srgbClr val="FFFFFF"/>
                    </a:solidFill>
                  </a:tcPr>
                </a:tc>
                <a:tc>
                  <a:txBody>
                    <a:bodyPr/>
                    <a:lstStyle/>
                    <a:p>
                      <a:r>
                        <a:rPr sz="1300">
                          <a:latin typeface="IBM Plex Sans"/>
                        </a:rPr>
                        <a:t>0.0284</a:t>
                      </a:r>
                    </a:p>
                  </a:txBody>
                  <a:tcPr>
                    <a:solidFill>
                      <a:srgbClr val="FFFFFF"/>
                    </a:solidFill>
                  </a:tcPr>
                </a:tc>
                <a:tc>
                  <a:txBody>
                    <a:bodyPr/>
                    <a:lstStyle/>
                    <a:p>
                      <a:r>
                        <a:rPr sz="1300">
                          <a:latin typeface="IBM Plex Sans"/>
                        </a:rPr>
                        <a:t>11337 k</a:t>
                      </a:r>
                    </a:p>
                  </a:txBody>
                  <a:tcPr>
                    <a:solidFill>
                      <a:srgbClr val="FFFFFF"/>
                    </a:solidFill>
                  </a:tcPr>
                </a:tc>
                <a:tc>
                  <a:txBody>
                    <a:bodyPr/>
                    <a:lstStyle/>
                    <a:p>
                      <a:r>
                        <a:rPr sz="1300">
                          <a:latin typeface="IBM Plex Sans"/>
                        </a:rPr>
                        <a:t>36</a:t>
                      </a:r>
                    </a:p>
                  </a:txBody>
                  <a:tcPr>
                    <a:solidFill>
                      <a:srgbClr val="FFFFFF"/>
                    </a:solidFill>
                  </a:tcPr>
                </a:tc>
              </a:tr>
              <a:tr h="329184">
                <a:tc>
                  <a:txBody>
                    <a:bodyPr/>
                    <a:lstStyle/>
                    <a:p>
                      <a:r>
                        <a:rPr sz="1300">
                          <a:latin typeface="IBM Plex Sans"/>
                        </a:rPr>
                        <a:t>WVS</a:t>
                      </a:r>
                    </a:p>
                  </a:txBody>
                  <a:tcPr>
                    <a:solidFill>
                      <a:srgbClr val="ECF0EE"/>
                    </a:solidFill>
                  </a:tcPr>
                </a:tc>
                <a:tc>
                  <a:txBody>
                    <a:bodyPr/>
                    <a:lstStyle/>
                    <a:p>
                      <a:r>
                        <a:rPr sz="1300">
                          <a:latin typeface="IBM Plex Sans"/>
                        </a:rPr>
                        <a:t>0.1087</a:t>
                      </a:r>
                    </a:p>
                  </a:txBody>
                  <a:tcPr>
                    <a:solidFill>
                      <a:srgbClr val="ECF0EE"/>
                    </a:solidFill>
                  </a:tcPr>
                </a:tc>
                <a:tc>
                  <a:txBody>
                    <a:bodyPr/>
                    <a:lstStyle/>
                    <a:p>
                      <a:r>
                        <a:rPr sz="1300">
                          <a:latin typeface="IBM Plex Sans"/>
                        </a:rPr>
                        <a:t>0.1061</a:t>
                      </a:r>
                    </a:p>
                  </a:txBody>
                  <a:tcPr>
                    <a:solidFill>
                      <a:srgbClr val="ECF0EE"/>
                    </a:solidFill>
                  </a:tcPr>
                </a:tc>
                <a:tc>
                  <a:txBody>
                    <a:bodyPr/>
                    <a:lstStyle/>
                    <a:p>
                      <a:r>
                        <a:rPr sz="1300">
                          <a:latin typeface="IBM Plex Sans"/>
                        </a:rPr>
                        <a:t>0.0236</a:t>
                      </a:r>
                    </a:p>
                  </a:txBody>
                  <a:tcPr>
                    <a:solidFill>
                      <a:srgbClr val="ECF0EE"/>
                    </a:solidFill>
                  </a:tcPr>
                </a:tc>
                <a:tc>
                  <a:txBody>
                    <a:bodyPr/>
                    <a:lstStyle/>
                    <a:p>
                      <a:r>
                        <a:rPr sz="1300">
                          <a:latin typeface="IBM Plex Sans"/>
                        </a:rPr>
                        <a:t>40 k</a:t>
                      </a:r>
                    </a:p>
                  </a:txBody>
                  <a:tcPr>
                    <a:solidFill>
                      <a:srgbClr val="ECF0EE"/>
                    </a:solidFill>
                  </a:tcPr>
                </a:tc>
                <a:tc>
                  <a:txBody>
                    <a:bodyPr/>
                    <a:lstStyle/>
                    <a:p>
                      <a:r>
                        <a:rPr sz="1300">
                          <a:latin typeface="IBM Plex Sans"/>
                        </a:rPr>
                        <a:t>70</a:t>
                      </a:r>
                    </a:p>
                  </a:txBody>
                  <a:tcPr>
                    <a:solidFill>
                      <a:srgbClr val="ECF0EE"/>
                    </a:solidFill>
                  </a:tcPr>
                </a:tc>
              </a:tr>
              <a:tr h="329184">
                <a:tc>
                  <a:txBody>
                    <a:bodyPr/>
                    <a:lstStyle/>
                    <a:p>
                      <a:r>
                        <a:rPr sz="1300">
                          <a:latin typeface="IBM Plex Sans"/>
                        </a:rPr>
                        <a:t>TACDPG</a:t>
                      </a:r>
                    </a:p>
                  </a:txBody>
                  <a:tcPr>
                    <a:solidFill>
                      <a:srgbClr val="FFFFFF"/>
                    </a:solidFill>
                  </a:tcPr>
                </a:tc>
                <a:tc>
                  <a:txBody>
                    <a:bodyPr/>
                    <a:lstStyle/>
                    <a:p>
                      <a:r>
                        <a:rPr sz="1300">
                          <a:latin typeface="IBM Plex Sans"/>
                        </a:rPr>
                        <a:t>0.1393</a:t>
                      </a:r>
                    </a:p>
                  </a:txBody>
                  <a:tcPr>
                    <a:solidFill>
                      <a:srgbClr val="FFFFFF"/>
                    </a:solidFill>
                  </a:tcPr>
                </a:tc>
                <a:tc>
                  <a:txBody>
                    <a:bodyPr/>
                    <a:lstStyle/>
                    <a:p>
                      <a:r>
                        <a:rPr sz="1300">
                          <a:latin typeface="IBM Plex Sans"/>
                        </a:rPr>
                        <a:t>0.1205</a:t>
                      </a:r>
                    </a:p>
                  </a:txBody>
                  <a:tcPr>
                    <a:solidFill>
                      <a:srgbClr val="FFFFFF"/>
                    </a:solidFill>
                  </a:tcPr>
                </a:tc>
                <a:tc>
                  <a:txBody>
                    <a:bodyPr/>
                    <a:lstStyle/>
                    <a:p>
                      <a:r>
                        <a:rPr sz="1300">
                          <a:latin typeface="IBM Plex Sans"/>
                        </a:rPr>
                        <a:t>0.0349</a:t>
                      </a:r>
                    </a:p>
                  </a:txBody>
                  <a:tcPr>
                    <a:solidFill>
                      <a:srgbClr val="FFFFFF"/>
                    </a:solidFill>
                  </a:tcPr>
                </a:tc>
                <a:tc>
                  <a:txBody>
                    <a:bodyPr/>
                    <a:lstStyle/>
                    <a:p>
                      <a:r>
                        <a:rPr sz="1300">
                          <a:latin typeface="IBM Plex Sans"/>
                        </a:rPr>
                        <a:t>394 k</a:t>
                      </a:r>
                    </a:p>
                  </a:txBody>
                  <a:tcPr>
                    <a:solidFill>
                      <a:srgbClr val="FFFFFF"/>
                    </a:solidFill>
                  </a:tcPr>
                </a:tc>
                <a:tc>
                  <a:txBody>
                    <a:bodyPr/>
                    <a:lstStyle/>
                    <a:p>
                      <a:r>
                        <a:rPr sz="1300">
                          <a:latin typeface="IBM Plex Sans"/>
                        </a:rPr>
                        <a:t>1</a:t>
                      </a:r>
                    </a:p>
                  </a:txBody>
                  <a:tcPr>
                    <a:solidFill>
                      <a:srgbClr val="FFFFFF"/>
                    </a:solidFill>
                  </a:tcPr>
                </a:tc>
              </a:tr>
              <a:tr h="329184">
                <a:tc>
                  <a:txBody>
                    <a:bodyPr/>
                    <a:lstStyle/>
                    <a:p>
                      <a:r>
                        <a:rPr sz="1300">
                          <a:latin typeface="IBM Plex Sans"/>
                        </a:rPr>
                        <a:t>RFKAN_L72</a:t>
                      </a:r>
                    </a:p>
                  </a:txBody>
                  <a:tcPr>
                    <a:solidFill>
                      <a:srgbClr val="ECF0EE"/>
                    </a:solidFill>
                  </a:tcPr>
                </a:tc>
                <a:tc>
                  <a:txBody>
                    <a:bodyPr/>
                    <a:lstStyle/>
                    <a:p>
                      <a:r>
                        <a:rPr sz="1300">
                          <a:latin typeface="IBM Plex Sans"/>
                        </a:rPr>
                        <a:t>0.1076</a:t>
                      </a:r>
                    </a:p>
                  </a:txBody>
                  <a:tcPr>
                    <a:solidFill>
                      <a:srgbClr val="ECF0EE"/>
                    </a:solidFill>
                  </a:tcPr>
                </a:tc>
                <a:tc>
                  <a:txBody>
                    <a:bodyPr/>
                    <a:lstStyle/>
                    <a:p>
                      <a:r>
                        <a:rPr sz="1300">
                          <a:latin typeface="IBM Plex Sans"/>
                        </a:rPr>
                        <a:t>0.1052</a:t>
                      </a:r>
                    </a:p>
                  </a:txBody>
                  <a:tcPr>
                    <a:solidFill>
                      <a:srgbClr val="ECF0EE"/>
                    </a:solidFill>
                  </a:tcPr>
                </a:tc>
                <a:tc>
                  <a:txBody>
                    <a:bodyPr/>
                    <a:lstStyle/>
                    <a:p>
                      <a:r>
                        <a:rPr sz="1300">
                          <a:latin typeface="IBM Plex Sans"/>
                        </a:rPr>
                        <a:t>0.0285</a:t>
                      </a:r>
                    </a:p>
                  </a:txBody>
                  <a:tcPr>
                    <a:solidFill>
                      <a:srgbClr val="ECF0EE"/>
                    </a:solidFill>
                  </a:tcPr>
                </a:tc>
                <a:tc>
                  <a:txBody>
                    <a:bodyPr/>
                    <a:lstStyle/>
                    <a:p>
                      <a:r>
                        <a:rPr sz="1300">
                          <a:latin typeface="IBM Plex Sans"/>
                        </a:rPr>
                        <a:t>122 k</a:t>
                      </a:r>
                    </a:p>
                  </a:txBody>
                  <a:tcPr>
                    <a:solidFill>
                      <a:srgbClr val="ECF0EE"/>
                    </a:solidFill>
                  </a:tcPr>
                </a:tc>
                <a:tc>
                  <a:txBody>
                    <a:bodyPr/>
                    <a:lstStyle/>
                    <a:p>
                      <a:r>
                        <a:rPr sz="1300">
                          <a:latin typeface="IBM Plex Sans"/>
                        </a:rPr>
                        <a:t>7</a:t>
                      </a:r>
                    </a:p>
                  </a:txBody>
                  <a:tcPr>
                    <a:solidFill>
                      <a:srgbClr val="ECF0EE"/>
                    </a:solidFill>
                  </a:tcPr>
                </a:tc>
              </a:tr>
              <a:tr h="329184">
                <a:tc>
                  <a:txBody>
                    <a:bodyPr/>
                    <a:lstStyle/>
                    <a:p>
                      <a:r>
                        <a:rPr sz="1300">
                          <a:latin typeface="IBM Plex Sans"/>
                        </a:rPr>
                        <a:t>RKAN_L72</a:t>
                      </a:r>
                    </a:p>
                  </a:txBody>
                  <a:tcPr>
                    <a:solidFill>
                      <a:srgbClr val="FFFFFF"/>
                    </a:solidFill>
                  </a:tcPr>
                </a:tc>
                <a:tc>
                  <a:txBody>
                    <a:bodyPr/>
                    <a:lstStyle/>
                    <a:p>
                      <a:r>
                        <a:rPr sz="1300">
                          <a:latin typeface="IBM Plex Sans"/>
                        </a:rPr>
                        <a:t>0.1048</a:t>
                      </a:r>
                    </a:p>
                  </a:txBody>
                  <a:tcPr>
                    <a:solidFill>
                      <a:srgbClr val="FFFFFF"/>
                    </a:solidFill>
                  </a:tcPr>
                </a:tc>
                <a:tc>
                  <a:txBody>
                    <a:bodyPr/>
                    <a:lstStyle/>
                    <a:p>
                      <a:r>
                        <a:rPr sz="1300">
                          <a:latin typeface="IBM Plex Sans"/>
                        </a:rPr>
                        <a:t>0.1033</a:t>
                      </a:r>
                    </a:p>
                  </a:txBody>
                  <a:tcPr>
                    <a:solidFill>
                      <a:srgbClr val="FFFFFF"/>
                    </a:solidFill>
                  </a:tcPr>
                </a:tc>
                <a:tc>
                  <a:txBody>
                    <a:bodyPr/>
                    <a:lstStyle/>
                    <a:p>
                      <a:r>
                        <a:rPr sz="1300">
                          <a:latin typeface="IBM Plex Sans"/>
                        </a:rPr>
                        <a:t>0.0270</a:t>
                      </a:r>
                    </a:p>
                  </a:txBody>
                  <a:tcPr>
                    <a:solidFill>
                      <a:srgbClr val="FFFFFF"/>
                    </a:solidFill>
                  </a:tcPr>
                </a:tc>
                <a:tc>
                  <a:txBody>
                    <a:bodyPr/>
                    <a:lstStyle/>
                    <a:p>
                      <a:r>
                        <a:rPr sz="1300">
                          <a:latin typeface="IBM Plex Sans"/>
                        </a:rPr>
                        <a:t>44 k</a:t>
                      </a:r>
                    </a:p>
                  </a:txBody>
                  <a:tcPr>
                    <a:solidFill>
                      <a:srgbClr val="FFFFFF"/>
                    </a:solidFill>
                  </a:tcPr>
                </a:tc>
                <a:tc>
                  <a:txBody>
                    <a:bodyPr/>
                    <a:lstStyle/>
                    <a:p>
                      <a:r>
                        <a:rPr sz="1300">
                          <a:latin typeface="IBM Plex Sans"/>
                        </a:rPr>
                        <a:t>11</a:t>
                      </a:r>
                    </a:p>
                  </a:txBody>
                  <a:tcPr>
                    <a:solidFill>
                      <a:srgbClr val="FFFFFF"/>
                    </a:solidFill>
                  </a:tcPr>
                </a:tc>
              </a:tr>
            </a:tbl>
          </a:graphicData>
        </a:graphic>
      </p:graphicFrame>
      <p:sp>
        <p:nvSpPr>
          <p:cNvPr id="6" name="TextBox 5"/>
          <p:cNvSpPr txBox="1"/>
          <p:nvPr/>
        </p:nvSpPr>
        <p:spPr>
          <a:xfrm>
            <a:off x="640080" y="3621024"/>
            <a:ext cx="10908792" cy="822960"/>
          </a:xfrm>
          <a:prstGeom prst="rect">
            <a:avLst/>
          </a:prstGeom>
          <a:noFill/>
        </p:spPr>
        <p:txBody>
          <a:bodyPr wrap="square">
            <a:spAutoFit/>
          </a:bodyPr>
          <a:lstStyle/>
          <a:p>
            <a:r>
              <a:rPr sz="1700" b="0">
                <a:solidFill>
                  <a:srgbClr val="4A5568"/>
                </a:solidFill>
                <a:latin typeface="IBM Plex Sans"/>
              </a:rPr>
              <a:t>Implementaciones propias. RFKAN gana en validación y es el más rápido de los competitivos; en test Informer lo supera y WVS empata. TACDPG no llega a persistencia.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RESULTADOS</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Robustez: el LSTM falla en 2 de 4 semillas</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18</a:t>
            </a:r>
          </a:p>
        </p:txBody>
      </p:sp>
      <p:graphicFrame>
        <p:nvGraphicFramePr>
          <p:cNvPr id="5" name="Table 4"/>
          <p:cNvGraphicFramePr>
            <a:graphicFrameLocks noGrp="1"/>
          </p:cNvGraphicFramePr>
          <p:nvPr/>
        </p:nvGraphicFramePr>
        <p:xfrm>
          <a:off x="640080" y="1417320"/>
          <a:ext cx="5669280" cy="987552"/>
        </p:xfrm>
        <a:graphic>
          <a:graphicData uri="http://schemas.openxmlformats.org/drawingml/2006/table">
            <a:tbl>
              <a:tblPr firstRow="1" bandRow="1">
                <a:tableStyleId>{5C22544A-7EE6-4342-B048-85BDC9FD1C3A}</a:tableStyleId>
              </a:tblPr>
              <a:tblGrid>
                <a:gridCol w="1417320"/>
                <a:gridCol w="1417320"/>
                <a:gridCol w="1417320"/>
                <a:gridCol w="1417320"/>
              </a:tblGrid>
              <a:tr h="329184">
                <a:tc>
                  <a:txBody>
                    <a:bodyPr/>
                    <a:lstStyle/>
                    <a:p>
                      <a:r>
                        <a:rPr sz="1300" b="1">
                          <a:solidFill>
                            <a:srgbClr val="F4F6F3"/>
                          </a:solidFill>
                          <a:latin typeface="IBM Plex Sans"/>
                        </a:rPr>
                        <a:t>Modelo</a:t>
                      </a:r>
                    </a:p>
                  </a:txBody>
                  <a:tcPr>
                    <a:solidFill>
                      <a:srgbClr val="14213D"/>
                    </a:solidFill>
                  </a:tcPr>
                </a:tc>
                <a:tc>
                  <a:txBody>
                    <a:bodyPr/>
                    <a:lstStyle/>
                    <a:p>
                      <a:r>
                        <a:rPr sz="1300" b="1">
                          <a:solidFill>
                            <a:srgbClr val="F4F6F3"/>
                          </a:solidFill>
                          <a:latin typeface="IBM Plex Sans"/>
                        </a:rPr>
                        <a:t>n</a:t>
                      </a:r>
                    </a:p>
                  </a:txBody>
                  <a:tcPr>
                    <a:solidFill>
                      <a:srgbClr val="14213D"/>
                    </a:solidFill>
                  </a:tcPr>
                </a:tc>
                <a:tc>
                  <a:txBody>
                    <a:bodyPr/>
                    <a:lstStyle/>
                    <a:p>
                      <a:r>
                        <a:rPr sz="1300" b="1">
                          <a:solidFill>
                            <a:srgbClr val="F4F6F3"/>
                          </a:solidFill>
                          <a:latin typeface="IBM Plex Sans"/>
                        </a:rPr>
                        <a:t>RMSE test</a:t>
                      </a:r>
                    </a:p>
                  </a:txBody>
                  <a:tcPr>
                    <a:solidFill>
                      <a:srgbClr val="14213D"/>
                    </a:solidFill>
                  </a:tcPr>
                </a:tc>
                <a:tc>
                  <a:txBody>
                    <a:bodyPr/>
                    <a:lstStyle/>
                    <a:p>
                      <a:r>
                        <a:rPr sz="1300" b="1">
                          <a:solidFill>
                            <a:srgbClr val="F4F6F3"/>
                          </a:solidFill>
                          <a:latin typeface="IBM Plex Sans"/>
                        </a:rPr>
                        <a:t>CORR test</a:t>
                      </a:r>
                    </a:p>
                  </a:txBody>
                  <a:tcPr>
                    <a:solidFill>
                      <a:srgbClr val="14213D"/>
                    </a:solidFill>
                  </a:tcPr>
                </a:tc>
              </a:tr>
              <a:tr h="329184">
                <a:tc>
                  <a:txBody>
                    <a:bodyPr/>
                    <a:lstStyle/>
                    <a:p>
                      <a:r>
                        <a:rPr sz="1300">
                          <a:latin typeface="IBM Plex Sans"/>
                        </a:rPr>
                        <a:t>RFKAN</a:t>
                      </a:r>
                    </a:p>
                  </a:txBody>
                  <a:tcPr>
                    <a:solidFill>
                      <a:srgbClr val="FFFFFF"/>
                    </a:solidFill>
                  </a:tcPr>
                </a:tc>
                <a:tc>
                  <a:txBody>
                    <a:bodyPr/>
                    <a:lstStyle/>
                    <a:p>
                      <a:r>
                        <a:rPr sz="1300">
                          <a:latin typeface="IBM Plex Sans"/>
                        </a:rPr>
                        <a:t>4</a:t>
                      </a:r>
                    </a:p>
                  </a:txBody>
                  <a:tcPr>
                    <a:solidFill>
                      <a:srgbClr val="FFFFFF"/>
                    </a:solidFill>
                  </a:tcPr>
                </a:tc>
                <a:tc>
                  <a:txBody>
                    <a:bodyPr/>
                    <a:lstStyle/>
                    <a:p>
                      <a:r>
                        <a:rPr sz="1300">
                          <a:latin typeface="IBM Plex Sans"/>
                        </a:rPr>
                        <a:t>0.1058 ± 0.0006</a:t>
                      </a:r>
                    </a:p>
                  </a:txBody>
                  <a:tcPr>
                    <a:solidFill>
                      <a:srgbClr val="FFFFFF"/>
                    </a:solidFill>
                  </a:tcPr>
                </a:tc>
                <a:tc>
                  <a:txBody>
                    <a:bodyPr/>
                    <a:lstStyle/>
                    <a:p>
                      <a:r>
                        <a:rPr sz="1300">
                          <a:latin typeface="IBM Plex Sans"/>
                        </a:rPr>
                        <a:t>0.600 ± 0.005</a:t>
                      </a:r>
                    </a:p>
                  </a:txBody>
                  <a:tcPr>
                    <a:solidFill>
                      <a:srgbClr val="FFFFFF"/>
                    </a:solidFill>
                  </a:tcPr>
                </a:tc>
              </a:tr>
              <a:tr h="329184">
                <a:tc>
                  <a:txBody>
                    <a:bodyPr/>
                    <a:lstStyle/>
                    <a:p>
                      <a:r>
                        <a:rPr sz="1300">
                          <a:latin typeface="IBM Plex Sans"/>
                        </a:rPr>
                        <a:t>LSTM</a:t>
                      </a:r>
                    </a:p>
                  </a:txBody>
                  <a:tcPr>
                    <a:solidFill>
                      <a:srgbClr val="ECF0EE"/>
                    </a:solidFill>
                  </a:tcPr>
                </a:tc>
                <a:tc>
                  <a:txBody>
                    <a:bodyPr/>
                    <a:lstStyle/>
                    <a:p>
                      <a:r>
                        <a:rPr sz="1300">
                          <a:latin typeface="IBM Plex Sans"/>
                        </a:rPr>
                        <a:t>4</a:t>
                      </a:r>
                    </a:p>
                  </a:txBody>
                  <a:tcPr>
                    <a:solidFill>
                      <a:srgbClr val="ECF0EE"/>
                    </a:solidFill>
                  </a:tcPr>
                </a:tc>
                <a:tc>
                  <a:txBody>
                    <a:bodyPr/>
                    <a:lstStyle/>
                    <a:p>
                      <a:r>
                        <a:rPr sz="1300">
                          <a:latin typeface="IBM Plex Sans"/>
                        </a:rPr>
                        <a:t>0.1100 ± 0.0102</a:t>
                      </a:r>
                    </a:p>
                  </a:txBody>
                  <a:tcPr>
                    <a:solidFill>
                      <a:srgbClr val="ECF0EE"/>
                    </a:solidFill>
                  </a:tcPr>
                </a:tc>
                <a:tc>
                  <a:txBody>
                    <a:bodyPr/>
                    <a:lstStyle/>
                    <a:p>
                      <a:r>
                        <a:rPr sz="1300">
                          <a:latin typeface="IBM Plex Sans"/>
                        </a:rPr>
                        <a:t>0.565 ± 0.080</a:t>
                      </a:r>
                    </a:p>
                  </a:txBody>
                  <a:tcPr>
                    <a:solidFill>
                      <a:srgbClr val="ECF0EE"/>
                    </a:solidFill>
                  </a:tcPr>
                </a:tc>
              </a:tr>
            </a:tbl>
          </a:graphicData>
        </a:graphic>
      </p:graphicFrame>
      <p:pic>
        <p:nvPicPr>
          <p:cNvPr id="6" name="Picture 5" descr="fig_horizonte.png"/>
          <p:cNvPicPr>
            <a:picLocks noChangeAspect="1"/>
          </p:cNvPicPr>
          <p:nvPr/>
        </p:nvPicPr>
        <p:blipFill>
          <a:blip r:embed="rId2"/>
          <a:stretch>
            <a:fillRect/>
          </a:stretch>
        </p:blipFill>
        <p:spPr>
          <a:xfrm>
            <a:off x="6583680" y="1417320"/>
            <a:ext cx="4937760" cy="24688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RESULTADOS</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La limitación: los picos de crecida</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19</a:t>
            </a:r>
          </a:p>
        </p:txBody>
      </p:sp>
      <p:pic>
        <p:nvPicPr>
          <p:cNvPr id="5" name="Picture 4" descr="fig_hidrogramas.png"/>
          <p:cNvPicPr>
            <a:picLocks noChangeAspect="1"/>
          </p:cNvPicPr>
          <p:nvPr/>
        </p:nvPicPr>
        <p:blipFill>
          <a:blip r:embed="rId2"/>
          <a:stretch>
            <a:fillRect/>
          </a:stretch>
        </p:blipFill>
        <p:spPr>
          <a:xfrm>
            <a:off x="640080" y="1417320"/>
            <a:ext cx="10908792" cy="2727198"/>
          </a:xfrm>
          <a:prstGeom prst="rect">
            <a:avLst/>
          </a:prstGeom>
        </p:spPr>
      </p:pic>
      <p:sp>
        <p:nvSpPr>
          <p:cNvPr id="6" name="TextBox 5"/>
          <p:cNvSpPr txBox="1"/>
          <p:nvPr/>
        </p:nvSpPr>
        <p:spPr>
          <a:xfrm>
            <a:off x="640080" y="4235958"/>
            <a:ext cx="10908792" cy="822960"/>
          </a:xfrm>
          <a:prstGeom prst="rect">
            <a:avLst/>
          </a:prstGeom>
          <a:noFill/>
        </p:spPr>
        <p:txBody>
          <a:bodyPr wrap="square">
            <a:spAutoFit/>
          </a:bodyPr>
          <a:lstStyle/>
          <a:p>
            <a:r>
              <a:rPr sz="1700" b="0">
                <a:solidFill>
                  <a:srgbClr val="4A5568"/>
                </a:solidFill>
                <a:latin typeface="IBM Plex Sans"/>
              </a:rPr>
              <a:t>Todos los modelos subestiman el 1 % de caudales más altos en un 24–39 %. En caudales bajos, la familia KAN oscila hora a hora (RFKAN más); LSTM y TCN dan curvas suaves.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640080" y="228600"/>
            <a:ext cx="10908792" cy="274320"/>
          </a:xfrm>
          <a:prstGeom prst="rect">
            <a:avLst/>
          </a:prstGeom>
          <a:noFill/>
        </p:spPr>
        <p:txBody>
          <a:bodyPr wrap="square">
            <a:spAutoFit/>
          </a:bodyPr>
          <a:lstStyle/>
          <a:p>
            <a:r>
              <a:rPr sz="1200" b="1">
                <a:solidFill>
                  <a:srgbClr val="1B7F8C"/>
                </a:solidFill>
                <a:latin typeface="IBM Plex Sans"/>
              </a:rPr>
              <a:t>RESULTADOS</a:t>
            </a:r>
          </a:p>
        </p:txBody>
      </p:sp>
      <p:sp>
        <p:nvSpPr>
          <p:cNvPr id="3" name="TextBox 2"/>
          <p:cNvSpPr txBox="1"/>
          <p:nvPr/>
        </p:nvSpPr>
        <p:spPr>
          <a:xfrm>
            <a:off x="640080" y="457200"/>
            <a:ext cx="10908792" cy="822960"/>
          </a:xfrm>
          <a:prstGeom prst="rect">
            <a:avLst/>
          </a:prstGeom>
          <a:noFill/>
        </p:spPr>
        <p:txBody>
          <a:bodyPr wrap="square">
            <a:spAutoFit/>
          </a:bodyPr>
          <a:lstStyle/>
          <a:p>
            <a:r>
              <a:rPr sz="3200" b="1">
                <a:solidFill>
                  <a:srgbClr val="14213D"/>
                </a:solidFill>
                <a:latin typeface="Source Serif 4"/>
              </a:rPr>
              <a:t>Conclusiones</a:t>
            </a:r>
          </a:p>
        </p:txBody>
      </p:sp>
      <p:sp>
        <p:nvSpPr>
          <p:cNvPr id="4" name="TextBox 3"/>
          <p:cNvSpPr txBox="1"/>
          <p:nvPr/>
        </p:nvSpPr>
        <p:spPr>
          <a:xfrm>
            <a:off x="11155680" y="6400800"/>
            <a:ext cx="731520" cy="274320"/>
          </a:xfrm>
          <a:prstGeom prst="rect">
            <a:avLst/>
          </a:prstGeom>
          <a:noFill/>
        </p:spPr>
        <p:txBody>
          <a:bodyPr wrap="square">
            <a:spAutoFit/>
          </a:bodyPr>
          <a:lstStyle/>
          <a:p>
            <a:pPr algn="r"/>
            <a:r>
              <a:rPr sz="1100" b="0">
                <a:solidFill>
                  <a:srgbClr val="4A5568"/>
                </a:solidFill>
                <a:latin typeface="IBM Plex Sans"/>
              </a:rPr>
              <a:t>20</a:t>
            </a:r>
          </a:p>
        </p:txBody>
      </p:sp>
      <p:sp>
        <p:nvSpPr>
          <p:cNvPr id="5" name="TextBox 4"/>
          <p:cNvSpPr txBox="1"/>
          <p:nvPr/>
        </p:nvSpPr>
        <p:spPr>
          <a:xfrm>
            <a:off x="640080" y="1417320"/>
            <a:ext cx="10908792" cy="2743200"/>
          </a:xfrm>
          <a:prstGeom prst="rect">
            <a:avLst/>
          </a:prstGeom>
          <a:noFill/>
        </p:spPr>
        <p:txBody>
          <a:bodyPr wrap="square">
            <a:spAutoFit/>
          </a:bodyPr>
          <a:lstStyle/>
          <a:p>
            <a:pPr>
              <a:spcAft>
                <a:spcPts val="800"/>
              </a:spcAft>
            </a:pPr>
            <a:r>
              <a:rPr sz="1900">
                <a:solidFill>
                  <a:srgbClr val="1F2933"/>
                </a:solidFill>
                <a:latin typeface="IBM Plex Sans"/>
              </a:rPr>
              <a:t>•  RFKAN mejora a persistencia en 11 % de RMSE de test, pero LSTM y GRU lo superan.</a:t>
            </a:r>
          </a:p>
          <a:p>
            <a:pPr>
              <a:spcAft>
                <a:spcPts val="800"/>
              </a:spcAft>
            </a:pPr>
            <a:r>
              <a:rPr sz="1900">
                <a:solidFill>
                  <a:srgbClr val="1F2933"/>
                </a:solidFill>
                <a:latin typeface="IBM Plex Sans"/>
              </a:rPr>
              <a:t>•  La recurrencia es la contribución que se sostiene, igual que en el paper.</a:t>
            </a:r>
          </a:p>
          <a:p>
            <a:pPr>
              <a:spcAft>
                <a:spcPts val="800"/>
              </a:spcAft>
            </a:pPr>
            <a:r>
              <a:rPr sz="1900">
                <a:solidFill>
                  <a:srgbClr val="1F2933"/>
                </a:solidFill>
                <a:latin typeface="IBM Plex Sans"/>
              </a:rPr>
              <a:t>•  RFKAN es estable en las 4 semillas; el LSTM queda en persistencia en 2 de 4.</a:t>
            </a:r>
          </a:p>
          <a:p>
            <a:pPr>
              <a:spcAft>
                <a:spcPts val="800"/>
              </a:spcAft>
            </a:pPr>
            <a:r>
              <a:rPr sz="1900">
                <a:solidFill>
                  <a:srgbClr val="1F2933"/>
                </a:solidFill>
                <a:latin typeface="IBM Plex Sans"/>
              </a:rPr>
              <a:t>•  Fourier es más rápido, pero no más preciso que splines: el caudal no es periódico.</a:t>
            </a:r>
          </a:p>
          <a:p>
            <a:pPr>
              <a:spcAft>
                <a:spcPts val="800"/>
              </a:spcAft>
            </a:pPr>
            <a:r>
              <a:rPr sz="1900">
                <a:solidFill>
                  <a:srgbClr val="1F2933"/>
                </a:solidFill>
                <a:latin typeface="IBM Plex Sans"/>
              </a:rPr>
              <a:t>•  Refinar hasta grilla 100 no ayuda; el refinamiento progresivo con lr decreciente sí es necesario.</a:t>
            </a:r>
          </a:p>
          <a:p>
            <a:pPr>
              <a:spcAft>
                <a:spcPts val="800"/>
              </a:spcAft>
            </a:pPr>
            <a:r>
              <a:rPr sz="1900">
                <a:solidFill>
                  <a:srgbClr val="1F2933"/>
                </a:solidFill>
                <a:latin typeface="IBM Plex Sans"/>
              </a:rPr>
              <a:t>•  Trabajo futuro: pérdidas que pesen los picos, usar y_aux y bases locales (wavelets).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